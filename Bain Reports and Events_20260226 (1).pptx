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emf" ContentType="image/x-emf"/>
  <Default Extension="png" ContentType="image/png"/>
  <Override PartName="/customXml/item1.xml" ContentType="application/xml"/>
  <Override PartName="/customXml/item2.xml" ContentType="application/xml"/>
  <Override PartName="/customXml/item3.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microsoft.com/office/2011/relationships/webextensiontaskpanes" Target="ppt/webextensions/taskpanes.xml"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package/2006/relationships/metadata/thumbnail" Target="docProps/thumbnail.jpeg" /><Relationship Id="rId6" Type="http://schemas.openxmlformats.org/officeDocument/2006/relationships/custom-properties" Target="docProps/custom.xml" /></Relationships>
</file>

<file path=ppt/presentation.xml><?xml version="1.0" encoding="utf-8"?>
<!--Generated by Aspose.Slides for .NET 23.2-->
<p:presentation xmlns:r="http://schemas.openxmlformats.org/officeDocument/2006/relationships" xmlns:a="http://schemas.openxmlformats.org/drawingml/2006/main" xmlns:p="http://schemas.openxmlformats.org/presentationml/2006/main" removePersonalInfoOnSave="1" saveSubsetFonts="1">
  <p:sldMasterIdLst>
    <p:sldMasterId id="2147483648" r:id="rId4"/>
  </p:sldMasterIdLst>
  <p:notesMasterIdLst>
    <p:notesMasterId r:id="rId5"/>
  </p:notesMasterIdLst>
  <p:sldIdLst>
    <p:sldId id="2147483620" r:id="rId6"/>
    <p:sldId id="2147483610" r:id="rId7"/>
    <p:sldId id="2147483618" r:id="rId8"/>
    <p:sldId id="2147483617" r:id="rId9"/>
    <p:sldId id="2147483615" r:id="rId10"/>
  </p:sldIdLst>
  <p:sldSz cx="12192000" cy="6858000"/>
  <p:notesSz cx="6797675" cy="9926638"/>
  <p:custDataLst>
    <p:tags r:id="rId11"/>
  </p:custDataLst>
  <p:defaultTex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6255E3-7071-4A23-BA2B-479763EFF267}">
          <p14:sldIdLst>
            <p14:sldId id="2147483620"/>
            <p14:sldId id="2147483610"/>
            <p14:sldId id="2147483618"/>
            <p14:sldId id="2147483617"/>
            <p14:sldId id="2147483615"/>
          </p14:sldIdLst>
        </p14:section>
      </p14:sectionLst>
    </p:ext>
    <p:ext uri="{EFAFB233-063F-42B5-8137-9DF3F51BA10A}">
      <p15:sldGuideLst xmlns:p15="http://schemas.microsoft.com/office/powerpoint/2012/main"/>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2D5ABB26-0587-4C30-8999-92F81FD0307C}">
  <a:tblStyle styleId="{9D7B26C5-4107-4FEC-AEDC-1716B250A1EF}" styleName="Light Style 1">
    <a:wholeTbl>
      <a:tcTxStyle>
        <a:fontRef idx="minor">
          <a:prstClr val="black"/>
        </a:fontRef>
        <a:schemeClr val="dk1"/>
      </a:tcTxStyle>
      <a:tcStyle>
        <a:tcBdr>
          <a:left>
            <a:ln>
              <a:noFill/>
            </a:ln>
          </a:left>
          <a:right>
            <a:ln>
              <a:noFill/>
            </a:ln>
          </a:right>
          <a:top>
            <a:ln>
              <a:noFill/>
            </a:ln>
          </a:top>
          <a:bottom>
            <a:ln>
              <a:noFill/>
            </a:ln>
          </a:bottom>
          <a:insideH>
            <a:ln w="9525" cmpd="sng">
              <a:solidFill>
                <a:schemeClr val="accent1"/>
              </a:solidFill>
            </a:ln>
          </a:insideH>
          <a:insideV>
            <a:ln>
              <a:noFill/>
            </a:ln>
          </a:insideV>
        </a:tcBdr>
        <a:fill>
          <a:noFill/>
        </a:fill>
      </a:tcStyle>
    </a:wholeTbl>
    <a:band1H>
      <a:tcStyle>
        <a:tcBdr>
          <a:top>
            <a:ln>
              <a:noFill/>
            </a:ln>
          </a:top>
          <a:bottom>
            <a:ln>
              <a:noFill/>
            </a:ln>
          </a:bottom>
        </a:tcBdr>
        <a:fill>
          <a:solidFill>
            <a:schemeClr val="dk2"/>
          </a:solidFill>
        </a:fill>
      </a:tcStyle>
    </a:band1H>
    <a:firstCol>
      <a:tcTxStyle b="on"/>
    </a:firstCol>
    <a:lastRow>
      <a:tcTxStyle b="on">
        <a:fontRef idx="minor">
          <a:prstClr val="black"/>
        </a:fontRef>
        <a:schemeClr val="lt1"/>
      </a:tcTxStyle>
      <a:tcStyle>
        <a:tcBdr>
          <a:top>
            <a:ln w="19050" cmpd="sng">
              <a:solidFill>
                <a:schemeClr val="lt1"/>
              </a:solidFill>
            </a:ln>
          </a:top>
        </a:tcBdr>
        <a:fill>
          <a:solidFill>
            <a:schemeClr val="accent3"/>
          </a:solidFill>
        </a:fill>
      </a:tcStyle>
    </a:lastRow>
    <a:firstRow>
      <a:tcTxStyle b="on">
        <a:fontRef idx="minor">
          <a:prstClr val="black"/>
        </a:fontRef>
        <a:schemeClr val="accent3"/>
      </a:tcTxStyle>
      <a:tcStyle>
        <a:tcBdr>
          <a:bottom>
            <a:ln w="19050" cmpd="sng">
              <a:solidFill>
                <a:schemeClr val="dk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40" y="306"/>
      </p:cViewPr>
      <p:guideLst/>
    </p:cSldViewPr>
  </p:slideViewPr>
  <p:notesTextViewPr>
    <p:cViewPr>
      <p:scale>
        <a:sx n="1" d="1"/>
        <a:sy n="1" d="1"/>
      </p:scale>
      <p:origin x="0" y="0"/>
    </p:cViewPr>
  </p:notesTextViewPr>
  <p:notesViewPr>
    <p:cSldViewPr>
      <p:cViewPr>
        <p:scale>
          <a:sx n="1" d="100"/>
          <a:sy n="1" d="100"/>
        </p:scale>
        <p:origin x="0" y="0"/>
      </p:cViewPr>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customXml" Target="../customXml/item1.xml" /><Relationship Id="rId10" Type="http://schemas.openxmlformats.org/officeDocument/2006/relationships/slide" Target="slides/slide5.xml" /><Relationship Id="rId11" Type="http://schemas.openxmlformats.org/officeDocument/2006/relationships/tags" Target="tags/tag15.xml"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customXml" Target="../customXml/item2.xml" /><Relationship Id="rId3" Type="http://schemas.openxmlformats.org/officeDocument/2006/relationships/customXml" Target="../customXml/item3.xml" /><Relationship Id="rId4" Type="http://schemas.openxmlformats.org/officeDocument/2006/relationships/slideMaster" Target="slideMasters/slideMaster1.xml" /><Relationship Id="rId5" Type="http://schemas.openxmlformats.org/officeDocument/2006/relationships/notesMaster" Target="notesMasters/notesMaster1.xml" /><Relationship Id="rId6" Type="http://schemas.openxmlformats.org/officeDocument/2006/relationships/slide" Target="slides/slide1.xml" /><Relationship Id="rId7" Type="http://schemas.openxmlformats.org/officeDocument/2006/relationships/slide" Target="slides/slide2.xml" /><Relationship Id="rId8" Type="http://schemas.openxmlformats.org/officeDocument/2006/relationships/slide" Target="slides/slide3.xml" /><Relationship Id="rId9" Type="http://schemas.openxmlformats.org/officeDocument/2006/relationships/slide" Target="slides/slide4.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3.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3.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3.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3.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3.emf"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EFA0DE88-60E6-4FF8-A630-BCF9BC48EBEF}" type="datetimeFigureOut">
              <a:rPr lang="en-CA" smtClean="0"/>
              <a:t>2026-02-26</a:t>
            </a:fld>
            <a:endParaRPr lang="en-CA"/>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A512BD3-6393-4EA3-969C-9DA8C29E7245}" type="slidenum">
              <a:rPr lang="en-CA" smtClean="0"/>
              <a:t>‹#›</a:t>
            </a:fld>
            <a:endParaRPr lang="en-CA"/>
          </a:p>
        </p:txBody>
      </p:sp>
    </p:spTree>
    <p:extLst>
      <p:ext uri="{BB962C8B-B14F-4D97-AF65-F5344CB8AC3E}">
        <p14:creationId xmlns:p14="http://schemas.microsoft.com/office/powerpoint/2010/main" val="3393240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512BD3-6393-4EA3-969C-9DA8C29E7245}" type="slidenum">
              <a:rPr lang="en-CA" smtClean="0"/>
              <a:t>1</a:t>
            </a:fld>
            <a:endParaRPr lang="en-CA"/>
          </a:p>
        </p:txBody>
      </p:sp>
    </p:spTree>
    <p:extLst>
      <p:ext uri="{BB962C8B-B14F-4D97-AF65-F5344CB8AC3E}">
        <p14:creationId xmlns:p14="http://schemas.microsoft.com/office/powerpoint/2010/main" val="1629866990"/>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emf"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emf"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preserve="1" userDrawn="1">
  <p:cSld name="Title Slide">
    <p:spTree>
      <p:nvGrpSpPr>
        <p:cNvPr id="1" name=""/>
        <p:cNvGrpSpPr/>
        <p:nvPr/>
      </p:nvGrpSpPr>
      <p:grpSpPr>
        <a:xfrm>
          <a:off x="0" y="0"/>
          <a:ext cx="0" cy="0"/>
        </a:xfrm>
      </p:grpSpPr>
      <p:pic>
        <p:nvPicPr>
          <p:cNvPr id="7" name="BainLogo"/>
          <p:cNvPicPr>
            <a:picLocks noChangeAspect="1"/>
          </p:cNvPicPr>
          <p:nvPr userDrawn="1"/>
        </p:nvPicPr>
        <p:blipFill>
          <a:blip r:embed="rId1">
            <a:extLst>
              <a:ext uri="{28A0092B-C50C-407E-A947-70E740481C1C}">
                <a14:useLocalDpi xmlns:a14="http://schemas.microsoft.com/office/drawing/2010/main" val="0"/>
              </a:ext>
            </a:extLst>
          </a:blip>
          <a:stretch>
            <a:fillRect/>
          </a:stretch>
        </p:blipFill>
        <p:spPr>
          <a:xfrm>
            <a:off x="8617037" y="4998212"/>
            <a:ext cx="3240000" cy="405000"/>
          </a:xfrm>
          <a:prstGeom prst="rect">
            <a:avLst/>
          </a:prstGeom>
        </p:spPr>
      </p:pic>
      <p:sp>
        <p:nvSpPr>
          <p:cNvPr id="13" name="TextBox 12"/>
          <p:cNvSpPr txBox="1"/>
          <p:nvPr userDrawn="1"/>
        </p:nvSpPr>
        <p:spPr>
          <a:xfrm>
            <a:off x="334963" y="5077602"/>
            <a:ext cx="884858" cy="246221"/>
          </a:xfrm>
          <a:prstGeom prst="rect">
            <a:avLst/>
          </a:prstGeom>
          <a:noFill/>
        </p:spPr>
        <p:txBody>
          <a:bodyPr wrap="none" lIns="0" tIns="0" rIns="0" bIns="0" rtlCol="0">
            <a:spAutoFit/>
          </a:bodyPr>
          <a:lstStyle/>
          <a:p>
            <a:pPr marL="0" indent="0">
              <a:buNone/>
            </a:pPr>
            <a:r>
              <a:rPr lang="en-US" sz="1600" b="1" cap="all" spc="300" baseline="0">
                <a:solidFill>
                  <a:schemeClr val="tx1"/>
                </a:solidFill>
              </a:rPr>
              <a:t>Draft</a:t>
            </a:r>
          </a:p>
        </p:txBody>
      </p:sp>
      <p:cxnSp>
        <p:nvCxnSpPr>
          <p:cNvPr id="5" name="SeparatorLine"/>
          <p:cNvCxnSpPr/>
          <p:nvPr userDrawn="1"/>
        </p:nvCxnSpPr>
        <p:spPr>
          <a:xfrm>
            <a:off x="0" y="4873803"/>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11" name="ClientLogo"/>
          <p:cNvSpPr>
            <a:spLocks noGrp="1"/>
          </p:cNvSpPr>
          <p:nvPr>
            <p:ph type="pic" sz="quarter" idx="10"/>
          </p:nvPr>
        </p:nvSpPr>
        <p:spPr>
          <a:xfrm>
            <a:off x="8617039" y="3364443"/>
            <a:ext cx="3239999" cy="1399647"/>
          </a:xfrm>
        </p:spPr>
        <p:txBody>
          <a:bodyPr/>
          <a:lstStyle>
            <a:lvl1pPr marL="0" indent="0">
              <a:buNone/>
              <a:defRPr/>
            </a:lvl1pPr>
          </a:lstStyle>
          <a:p>
            <a:r>
              <a:rPr lang="en-US"/>
              <a:t>Click icon to add picture</a:t>
            </a:r>
          </a:p>
        </p:txBody>
      </p:sp>
      <p:pic>
        <p:nvPicPr>
          <p:cNvPr id="8" name="Disclaimer"/>
          <p:cNvPicPr>
            <a:picLocks noChangeAspect="1"/>
          </p:cNvPicPr>
          <p:nvPr userDrawn="1"/>
        </p:nvPicPr>
        <p:blipFill>
          <a:blip r:embed="rId2"/>
          <a:stretch>
            <a:fillRect/>
          </a:stretch>
        </p:blipFill>
        <p:spPr>
          <a:xfrm>
            <a:off x="315468" y="6547288"/>
            <a:ext cx="6407451" cy="274344"/>
          </a:xfrm>
          <a:prstGeom prst="rect">
            <a:avLst/>
          </a:prstGeom>
        </p:spPr>
      </p:pic>
      <p:sp>
        <p:nvSpPr>
          <p:cNvPr id="3" name="Subtitle"/>
          <p:cNvSpPr>
            <a:spLocks noGrp="1"/>
          </p:cNvSpPr>
          <p:nvPr>
            <p:ph type="subTitle" idx="1" hasCustomPrompt="1"/>
          </p:nvPr>
        </p:nvSpPr>
        <p:spPr>
          <a:xfrm>
            <a:off x="334965" y="2420938"/>
            <a:ext cx="11522075" cy="900000"/>
          </a:xfrm>
        </p:spPr>
        <p:txBody>
          <a:bodyPr/>
          <a:lstStyle>
            <a:lvl1pPr marL="0" indent="0" algn="l">
              <a:lnSpc>
                <a:spcPct val="100000"/>
              </a:lnSpc>
              <a:spcBef>
                <a:spcPct val="0"/>
              </a:spcBef>
              <a:buNone/>
              <a:defRPr sz="220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add subtitle/contacts/date</a:t>
            </a:r>
          </a:p>
        </p:txBody>
      </p:sp>
      <p:sp>
        <p:nvSpPr>
          <p:cNvPr id="2" name="Title"/>
          <p:cNvSpPr>
            <a:spLocks noGrp="1"/>
          </p:cNvSpPr>
          <p:nvPr>
            <p:ph type="ctrTitle" hasCustomPrompt="1"/>
          </p:nvPr>
        </p:nvSpPr>
        <p:spPr>
          <a:xfrm>
            <a:off x="334964" y="1268413"/>
            <a:ext cx="11522075" cy="900112"/>
          </a:xfrm>
        </p:spPr>
        <p:txBody>
          <a:bodyPr anchor="b"/>
          <a:lstStyle>
            <a:lvl1pPr algn="l">
              <a:spcBef>
                <a:spcPct val="0"/>
              </a:spcBef>
              <a:defRPr sz="2600" b="1">
                <a:solidFill>
                  <a:schemeClr val="tx1"/>
                </a:solidFill>
              </a:defRPr>
            </a:lvl1pPr>
          </a:lstStyle>
          <a:p>
            <a:r>
              <a:rPr lang="en-US"/>
              <a:t>Click to add title</a:t>
            </a:r>
          </a:p>
        </p:txBody>
      </p:sp>
    </p:spTree>
    <p:extLst>
      <p:ext uri="{BB962C8B-B14F-4D97-AF65-F5344CB8AC3E}">
        <p14:creationId xmlns:p14="http://schemas.microsoft.com/office/powerpoint/2010/main" val="4012046067"/>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Title Only">
    <p:spTree>
      <p:nvGrpSpPr>
        <p:cNvPr id="1" name=""/>
        <p:cNvGrpSpPr/>
        <p:nvPr/>
      </p:nvGrpSpPr>
      <p:grpSpPr>
        <a:xfrm>
          <a:off x="0" y="0"/>
          <a:ext cx="0" cy="0"/>
        </a:xfrm>
      </p:grpSpPr>
      <p:sp>
        <p:nvSpPr>
          <p:cNvPr id="2" name="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04292435"/>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preserve="1" userDrawn="1">
  <p:cSld name="Last Page Logo">
    <p:spTree>
      <p:nvGrpSpPr>
        <p:cNvPr id="1" name=""/>
        <p:cNvGrpSpPr/>
        <p:nvPr/>
      </p:nvGrpSpPr>
      <p:grpSpPr>
        <a:xfrm>
          <a:off x="0" y="0"/>
          <a:ext cx="0" cy="0"/>
        </a:xfrm>
      </p:grpSpPr>
      <p:pic>
        <p:nvPicPr>
          <p:cNvPr id="38" name="BainLogo"/>
          <p:cNvPicPr>
            <a:picLocks noChangeAspect="1"/>
          </p:cNvPicPr>
          <p:nvPr userDrawn="1"/>
        </p:nvPicPr>
        <p:blipFill>
          <a:blip r:embed="rId1">
            <a:extLst>
              <a:ext uri="{28A0092B-C50C-407E-A947-70E740481C1C}">
                <a14:useLocalDpi xmlns:a14="http://schemas.microsoft.com/office/drawing/2010/main" val="0"/>
              </a:ext>
            </a:extLst>
          </a:blip>
          <a:stretch>
            <a:fillRect/>
          </a:stretch>
        </p:blipFill>
        <p:spPr>
          <a:xfrm>
            <a:off x="8617037" y="4998212"/>
            <a:ext cx="3240000" cy="405000"/>
          </a:xfrm>
          <a:prstGeom prst="rect">
            <a:avLst/>
          </a:prstGeom>
        </p:spPr>
      </p:pic>
      <p:cxnSp>
        <p:nvCxnSpPr>
          <p:cNvPr id="39" name="SeparatorLine"/>
          <p:cNvCxnSpPr/>
          <p:nvPr userDrawn="1"/>
        </p:nvCxnSpPr>
        <p:spPr>
          <a:xfrm>
            <a:off x="0" y="5481638"/>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323518"/>
      </p:ext>
    </p:extLst>
  </p:cSld>
  <p:clrMapOvr>
    <a:masterClrMapping/>
  </p:clrMapOvr>
  <p:transition/>
  <p:timing/>
  <p:extLst>
    <p:ext uri="{DCECCB84-F9BA-43D5-87BE-67443E8EF086}">
      <p15:sldGuideLst xmlns:p15="http://schemas.microsoft.com/office/powerpoint/2012/main">
        <p15:guide id="1" orient="horz" pos="3453" userDrawn="1">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blank" preserve="1">
  <p:cSld name="Blank">
    <p:spTree>
      <p:nvGrpSpPr>
        <p:cNvPr id="1" name=""/>
        <p:cNvGrpSpPr/>
        <p:nvPr/>
      </p:nvGrpSpPr>
      <p:grpSpPr>
        <a:xfrm>
          <a:off x="0" y="0"/>
          <a:ext cx="0" cy="0"/>
        </a:xfrm>
      </p:grpSpPr>
    </p:spTree>
    <p:extLst>
      <p:ext uri="{BB962C8B-B14F-4D97-AF65-F5344CB8AC3E}">
        <p14:creationId xmlns:p14="http://schemas.microsoft.com/office/powerpoint/2010/main" val="563444238"/>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vmlDrawing" Target="../drawings/vmlDrawing1.vml" /><Relationship Id="rId11"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tags" Target="../tags/tag1.xml" /><Relationship Id="rId6" Type="http://schemas.openxmlformats.org/officeDocument/2006/relationships/oleObject" Target="../embeddings/oleObject1.bin" TargetMode="Internal" /><Relationship Id="rId7" Type="http://schemas.openxmlformats.org/officeDocument/2006/relationships/image" Target="../media/image3.emf" /><Relationship Id="rId8" Type="http://schemas.openxmlformats.org/officeDocument/2006/relationships/image" Target="../media/image1.emf" /><Relationship Id="rId9" Type="http://schemas.openxmlformats.org/officeDocument/2006/relationships/image" Target="../media/image4.png"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bg1"/>
        </a:solidFill>
        <a:effectLst/>
      </p:bgPr>
    </p:bg>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949F73F-40C4-459A-87F2-5B4A916D85AA}"/>
              </a:ext>
            </a:extLst>
          </p:cNvPr>
          <p:cNvGraphicFramePr>
            <a:graphicFrameLocks noChangeAspect="1"/>
          </p:cNvGraphicFramePr>
          <p:nvPr userDrawn="1">
            <p:custDataLst>
              <p:tags r:id="rId5"/>
            </p:custDataLst>
            <p:extLst>
              <p:ext uri="{D42A27DB-BD31-4B8C-83A1-F6EECF244321}">
                <p14:modId xmlns:p14="http://schemas.microsoft.com/office/powerpoint/2010/main" val="243945686"/>
              </p:ext>
            </p:extLst>
          </p:nvPr>
        </p:nvGraphicFramePr>
        <p:xfrm>
          <a:off x="1588" y="1588"/>
          <a:ext cx="1588" cy="1588"/>
        </p:xfrm>
        <a:graphic>
          <a:graphicData uri="http://schemas.openxmlformats.org/presentationml/2006/ole">
            <mc:AlternateContent>
              <mc:Choice xmlns:v="urn:schemas-microsoft-com:vml" Requires="v">
                <p:oleObj spid="_x0000_s1038" name="think-cell Slide" r:id="rId6" imgW="606" imgH="608" progId="TCLayout.ActiveDocument.1">
                  <p:embed/>
                </p:oleObj>
              </mc:Choice>
              <mc:Fallback>
                <p:oleObj name="think-cell Slide" r:id="rId6" imgW="606" imgH="608" progId="TCLayout.ActiveDocument.1">
                  <p:embed/>
                  <p:pic>
                    <p:nvPicPr>
                      <p:cNvPr id="0" name="OLE substitute imag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BtfpConfiguration" hidden="1"/>
          <p:cNvSpPr txBox="1"/>
          <p:nvPr userDrawn="1"/>
        </p:nvSpPr>
        <p:spPr bwMode="hidden">
          <a:xfrm>
            <a:off x="0" y="0"/>
            <a:ext cx="36000" cy="36000"/>
          </a:xfrm>
          <a:prstGeom prst="rect">
            <a:avLst/>
          </a:prstGeom>
          <a:noFill/>
        </p:spPr>
        <p:txBody>
          <a:bodyPr wrap="none" lIns="0" tIns="0" rIns="0" bIns="0" rtlCol="0">
            <a:noAutofit/>
          </a:bodyPr>
          <a:lstStyle/>
          <a:p>
            <a:pPr marL="0" indent="0">
              <a:buNone/>
            </a:pPr>
            <a:r>
              <a:rPr lang="en-US" sz="100">
                <a:solidFill>
                  <a:schemeClr val="bg1">
                    <a:alpha val="0"/>
                  </a:schemeClr>
                </a:solidFill>
              </a:rPr>
              <a:t>&lt;BTFP&gt;&lt;!-- BTFPCONFIGURATION: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--&gt;&lt;/BTFP&gt;</a:t>
            </a:r>
          </a:p>
        </p:txBody>
      </p:sp>
      <p:sp>
        <p:nvSpPr>
          <p:cNvPr id="19" name="SlideNumber"/>
          <p:cNvSpPr/>
          <p:nvPr userDrawn="1"/>
        </p:nvSpPr>
        <p:spPr bwMode="gray">
          <a:xfrm>
            <a:off x="11715975" y="6649694"/>
            <a:ext cx="141064" cy="138499"/>
          </a:xfrm>
          <a:prstGeom prst="roundRect">
            <a:avLst>
              <a:gd name="adj" fmla="val 0"/>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r" defTabSz="711200" rtl="0" eaLnBrk="1" latinLnBrk="0" hangingPunct="1">
              <a:spcBef>
                <a:spcPts val="1200"/>
              </a:spcBef>
              <a:buNone/>
            </a:pPr>
            <a:fld id="{BB69BBE8-4DB2-4642-B003-B220ACD5A2FD}" type="slidenum">
              <a:rPr lang="en-US" sz="900" b="0" baseline="0" smtClean="0">
                <a:solidFill>
                  <a:schemeClr val="bg2"/>
                </a:solidFill>
                <a:latin typeface="+mn-lt"/>
              </a:rPr>
              <a:pPr marL="0" indent="0" algn="r" defTabSz="711200" rtl="0" eaLnBrk="1" latinLnBrk="0" hangingPunct="1">
                <a:spcBef>
                  <a:spcPts val="1200"/>
                </a:spcBef>
                <a:buNone/>
              </a:pPr>
              <a:t>1</a:t>
            </a:fld>
            <a:endParaRPr lang="en-US" sz="900" b="0">
              <a:solidFill>
                <a:schemeClr val="bg2"/>
              </a:solidFill>
              <a:latin typeface="+mn-lt"/>
            </a:endParaRPr>
          </a:p>
        </p:txBody>
      </p:sp>
      <p:pic>
        <p:nvPicPr>
          <p:cNvPr id="12" name="BainLogo"/>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260000" y="6654664"/>
            <a:ext cx="1152000" cy="144000"/>
          </a:xfrm>
          <a:prstGeom prst="rect">
            <a:avLst/>
          </a:prstGeom>
        </p:spPr>
      </p:pic>
      <p:sp>
        <p:nvSpPr>
          <p:cNvPr id="8" name="CreatedFooter"/>
          <p:cNvSpPr/>
          <p:nvPr userDrawn="1"/>
        </p:nvSpPr>
        <p:spPr>
          <a:xfrm>
            <a:off x="8263033" y="6642830"/>
            <a:ext cx="1368171"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Bain Reports and Events_20260226</a:t>
            </a:r>
          </a:p>
        </p:txBody>
      </p:sp>
      <p:sp>
        <p:nvSpPr>
          <p:cNvPr id="7" name="OfficeCode"/>
          <p:cNvSpPr/>
          <p:nvPr userDrawn="1"/>
        </p:nvSpPr>
        <p:spPr>
          <a:xfrm>
            <a:off x="7348519" y="6642830"/>
            <a:ext cx="288036"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DBS</a:t>
            </a:r>
          </a:p>
        </p:txBody>
      </p:sp>
      <p:pic>
        <p:nvPicPr>
          <p:cNvPr id="14" name="Disclaimer"/>
          <p:cNvPicPr>
            <a:picLocks noChangeAspect="1"/>
          </p:cNvPicPr>
          <p:nvPr userDrawn="1"/>
        </p:nvPicPr>
        <p:blipFill>
          <a:blip r:embed="rId9"/>
          <a:stretch>
            <a:fillRect/>
          </a:stretch>
        </p:blipFill>
        <p:spPr>
          <a:xfrm>
            <a:off x="316547" y="6641266"/>
            <a:ext cx="6407451" cy="176799"/>
          </a:xfrm>
          <a:prstGeom prst="rect">
            <a:avLst/>
          </a:prstGeom>
        </p:spPr>
      </p:pic>
      <p:cxnSp>
        <p:nvCxnSpPr>
          <p:cNvPr id="20" name="FooterSeparatorLine"/>
          <p:cNvCxnSpPr/>
          <p:nvPr userDrawn="1"/>
        </p:nvCxnSpPr>
        <p:spPr>
          <a:xfrm>
            <a:off x="0" y="6598800"/>
            <a:ext cx="11857037" cy="0"/>
          </a:xfrm>
          <a:prstGeom prst="line">
            <a:avLst/>
          </a:prstGeom>
          <a:ln w="9525" cap="flat">
            <a:solidFill>
              <a:schemeClr val="accent1"/>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3" name="Text Placeholder"/>
          <p:cNvSpPr>
            <a:spLocks noGrp="1"/>
          </p:cNvSpPr>
          <p:nvPr>
            <p:ph type="body" idx="1"/>
          </p:nvPr>
        </p:nvSpPr>
        <p:spPr>
          <a:xfrm>
            <a:off x="334435" y="1268413"/>
            <a:ext cx="11522603" cy="5292725"/>
          </a:xfrm>
          <a:prstGeom prst="rect">
            <a:avLst/>
          </a:prstGeom>
        </p:spPr>
        <p:txBody>
          <a:bodyPr vert="horz" lIns="36000" tIns="36000" rIns="36000" bIns="36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TitleSeparatorLine"/>
          <p:cNvCxnSpPr/>
          <p:nvPr userDrawn="1"/>
        </p:nvCxnSpPr>
        <p:spPr>
          <a:xfrm>
            <a:off x="0" y="873125"/>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2" name="Slide Title"/>
          <p:cNvSpPr>
            <a:spLocks noGrp="1"/>
          </p:cNvSpPr>
          <p:nvPr>
            <p:ph type="title"/>
          </p:nvPr>
        </p:nvSpPr>
        <p:spPr>
          <a:xfrm>
            <a:off x="334963" y="1"/>
            <a:ext cx="11522075" cy="876687"/>
          </a:xfrm>
          <a:prstGeom prst="rect">
            <a:avLst/>
          </a:prstGeom>
        </p:spPr>
        <p:txBody>
          <a:bodyPr vert="horz" lIns="36000" tIns="36000" rIns="36000" bIns="72000" rtlCol="0" anchor="b">
            <a:noAutofit/>
          </a:bodyPr>
          <a:lstStyle/>
          <a:p>
            <a:r>
              <a:rPr lang="en-US"/>
              <a:t>Click to edit Master title style</a:t>
            </a:r>
          </a:p>
        </p:txBody>
      </p:sp>
    </p:spTree>
    <p:extLst>
      <p:ext uri="{BB962C8B-B14F-4D97-AF65-F5344CB8AC3E}">
        <p14:creationId xmlns:p14="http://schemas.microsoft.com/office/powerpoint/2010/main" val="3729795247"/>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3" r:id="rId3"/>
    <p:sldLayoutId id="2147483655" r:id="rId4"/>
  </p:sldLayoutIdLst>
  <p:transition/>
  <p:timing/>
  <p:txStyles>
    <p:title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975" indent="-180975" algn="l" defTabSz="914354"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361950"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534988" indent="-173038"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3pPr>
      <a:lvl4pPr marL="715963"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898525" indent="-182563"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algn="l" defTabSz="711200" rtl="0" eaLnBrk="1" latinLnBrk="0" hangingPunct="1">
        <a:defRPr sz="1400" kern="1200">
          <a:solidFill>
            <a:schemeClr val="tx1"/>
          </a:solidFill>
          <a:latin typeface="+mn-lt"/>
          <a:ea typeface="+mn-ea"/>
          <a:cs typeface="+mn-cs"/>
        </a:defRPr>
      </a:lvl6pPr>
      <a:lvl7pPr marL="1244600" algn="l" defTabSz="711200" rtl="0" eaLnBrk="1" latinLnBrk="0" hangingPunct="1">
        <a:defRPr sz="1400" kern="1200">
          <a:solidFill>
            <a:schemeClr val="tx1"/>
          </a:solidFill>
          <a:latin typeface="+mn-lt"/>
          <a:ea typeface="+mn-ea"/>
          <a:cs typeface="+mn-cs"/>
        </a:defRPr>
      </a:lvl7pPr>
      <a:lvl8pPr marL="1422400" algn="l" defTabSz="711200" rtl="0" eaLnBrk="1" latinLnBrk="0" hangingPunct="1">
        <a:defRPr sz="1400" kern="1200">
          <a:solidFill>
            <a:schemeClr val="tx1"/>
          </a:solidFill>
          <a:latin typeface="+mn-lt"/>
          <a:ea typeface="+mn-ea"/>
          <a:cs typeface="+mn-cs"/>
        </a:defRPr>
      </a:lvl8pPr>
      <a:lvl9pPr marL="1600200" algn="l" defTabSz="7112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0" userDrawn="1">
          <p15:clr>
            <a:srgbClr val="D1D1D1"/>
          </p15:clr>
        </p15:guide>
        <p15:guide id="4" orient="horz" pos="799" userDrawn="1">
          <p15:clr>
            <a:srgbClr val="D1D1D1"/>
          </p15:clr>
        </p15:guide>
        <p15:guide id="7" orient="horz" pos="4133" userDrawn="1">
          <p15:clr>
            <a:srgbClr val="D1D1D1"/>
          </p15:clr>
        </p15:guide>
        <p15:guide id="8" pos="208" userDrawn="1">
          <p15:clr>
            <a:srgbClr val="CCCCCC"/>
          </p15:clr>
        </p15:guide>
        <p15:guide id="9" pos="7472" userDrawn="1">
          <p15:clr>
            <a:srgbClr val="CCCCCC"/>
          </p15:clr>
        </p15:guide>
      </p15:sldGuideLst>
    </p:ext>
  </p:extLst>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tags" Target="../tags/tag2.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3.xml" /><Relationship Id="rId3" Type="http://schemas.openxmlformats.org/officeDocument/2006/relationships/oleObject" Target="../embeddings/oleObject2.bin" TargetMode="Internal" /><Relationship Id="rId4" Type="http://schemas.openxmlformats.org/officeDocument/2006/relationships/image" Target="../media/image3.emf" /><Relationship Id="rId5" Type="http://schemas.openxmlformats.org/officeDocument/2006/relationships/tags" Target="../tags/tag4.xml" /><Relationship Id="rId6" Type="http://schemas.openxmlformats.org/officeDocument/2006/relationships/tags" Target="../tags/tag5.xml" /><Relationship Id="rId7" Type="http://schemas.openxmlformats.org/officeDocument/2006/relationships/vmlDrawing" Target="../drawings/vmlDrawing2.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6.xml" /><Relationship Id="rId3" Type="http://schemas.openxmlformats.org/officeDocument/2006/relationships/oleObject" Target="../embeddings/oleObject3.bin" TargetMode="Internal" /><Relationship Id="rId4" Type="http://schemas.openxmlformats.org/officeDocument/2006/relationships/image" Target="../media/image3.emf" /><Relationship Id="rId5" Type="http://schemas.openxmlformats.org/officeDocument/2006/relationships/tags" Target="../tags/tag7.xml" /><Relationship Id="rId6" Type="http://schemas.openxmlformats.org/officeDocument/2006/relationships/tags" Target="../tags/tag8.xml" /><Relationship Id="rId7" Type="http://schemas.openxmlformats.org/officeDocument/2006/relationships/vmlDrawing" Target="../drawings/vmlDrawing3.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9.xml" /><Relationship Id="rId3" Type="http://schemas.openxmlformats.org/officeDocument/2006/relationships/oleObject" Target="../embeddings/oleObject4.bin" TargetMode="Internal" /><Relationship Id="rId4" Type="http://schemas.openxmlformats.org/officeDocument/2006/relationships/image" Target="../media/image3.emf" /><Relationship Id="rId5" Type="http://schemas.openxmlformats.org/officeDocument/2006/relationships/tags" Target="../tags/tag10.xml" /><Relationship Id="rId6" Type="http://schemas.openxmlformats.org/officeDocument/2006/relationships/tags" Target="../tags/tag11.xml" /><Relationship Id="rId7" Type="http://schemas.openxmlformats.org/officeDocument/2006/relationships/vmlDrawing" Target="../drawings/vmlDrawing4.v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2.xml" /><Relationship Id="rId3" Type="http://schemas.openxmlformats.org/officeDocument/2006/relationships/oleObject" Target="../embeddings/oleObject5.bin" TargetMode="Internal" /><Relationship Id="rId4" Type="http://schemas.openxmlformats.org/officeDocument/2006/relationships/image" Target="../media/image3.emf" /><Relationship Id="rId5" Type="http://schemas.openxmlformats.org/officeDocument/2006/relationships/tags" Target="../tags/tag13.xml" /><Relationship Id="rId6" Type="http://schemas.openxmlformats.org/officeDocument/2006/relationships/tags" Target="../tags/tag14.xml" /><Relationship Id="rId7" Type="http://schemas.openxmlformats.org/officeDocument/2006/relationships/vmlDrawing" Target="../drawings/vmlDrawing5.v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12" name="btfpColumnIndicatorGroup2">
            <a:extLst>
              <a:ext uri="{FF2B5EF4-FFF2-40B4-BE49-F238E27FC236}">
                <a16:creationId xmlns:a16="http://schemas.microsoft.com/office/drawing/2014/main" id="{E70824AE-263F-0BA1-896C-C751ACBE0756}"/>
              </a:ext>
            </a:extLst>
          </p:cNvPr>
          <p:cNvGrpSpPr/>
          <p:nvPr/>
        </p:nvGrpSpPr>
        <p:grpSpPr>
          <a:xfrm>
            <a:off x="0" y="6926580"/>
            <a:ext cx="12192000" cy="137160"/>
            <a:chOff x="0" y="6926580"/>
            <a:chExt cx="12192000" cy="137160"/>
          </a:xfrm>
        </p:grpSpPr>
        <p:sp>
          <p:nvSpPr>
            <p:cNvPr id="10" name="btfpColumnGapBlocker729769">
              <a:extLst>
                <a:ext uri="{FF2B5EF4-FFF2-40B4-BE49-F238E27FC236}">
                  <a16:creationId xmlns:a16="http://schemas.microsoft.com/office/drawing/2014/main" id="{C857FEA1-0AA1-952C-782F-A5C1498639B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700710">
              <a:extLst>
                <a:ext uri="{FF2B5EF4-FFF2-40B4-BE49-F238E27FC236}">
                  <a16:creationId xmlns:a16="http://schemas.microsoft.com/office/drawing/2014/main" id="{8A63F655-49C7-C60C-19FF-3113E9C9012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787374">
              <a:extLst>
                <a:ext uri="{FF2B5EF4-FFF2-40B4-BE49-F238E27FC236}">
                  <a16:creationId xmlns:a16="http://schemas.microsoft.com/office/drawing/2014/main" id="{88043B59-CF37-2E1B-FC21-86F03EFDBEF8}"/>
                </a:ext>
              </a:extLst>
            </p:cNvPr>
            <p:cNvCxnSpPr/>
            <p:nvPr/>
          </p:nvCxnSpPr>
          <p:spPr bwMode="gray">
            <a:xfrm flipH="1"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399930">
              <a:extLst>
                <a:ext uri="{FF2B5EF4-FFF2-40B4-BE49-F238E27FC236}">
                  <a16:creationId xmlns:a16="http://schemas.microsoft.com/office/drawing/2014/main" id="{A7313C8B-5B86-71F1-2A6A-935040B30D77}"/>
                </a:ext>
              </a:extLst>
            </p:cNvPr>
            <p:cNvCxnSpPr/>
            <p:nvPr/>
          </p:nvCxnSpPr>
          <p:spPr bwMode="gray">
            <a:xfrm flipH="1"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BFE62CB-C9FD-AF07-C7AE-45AE28840AA7}"/>
              </a:ext>
            </a:extLst>
          </p:cNvPr>
          <p:cNvGrpSpPr/>
          <p:nvPr/>
        </p:nvGrpSpPr>
        <p:grpSpPr>
          <a:xfrm>
            <a:off x="0" y="-205740"/>
            <a:ext cx="12192000" cy="137160"/>
            <a:chOff x="0" y="-205740"/>
            <a:chExt cx="12192000" cy="137160"/>
          </a:xfrm>
        </p:grpSpPr>
        <p:sp>
          <p:nvSpPr>
            <p:cNvPr id="9" name="btfpColumnGapBlocker898170">
              <a:extLst>
                <a:ext uri="{FF2B5EF4-FFF2-40B4-BE49-F238E27FC236}">
                  <a16:creationId xmlns:a16="http://schemas.microsoft.com/office/drawing/2014/main" id="{1F03E7DD-0648-73F3-2FEA-4F596A7B11B3}"/>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866130">
              <a:extLst>
                <a:ext uri="{FF2B5EF4-FFF2-40B4-BE49-F238E27FC236}">
                  <a16:creationId xmlns:a16="http://schemas.microsoft.com/office/drawing/2014/main" id="{42393840-F248-BAD5-117F-8A4F37F987C3}"/>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231124">
              <a:extLst>
                <a:ext uri="{FF2B5EF4-FFF2-40B4-BE49-F238E27FC236}">
                  <a16:creationId xmlns:a16="http://schemas.microsoft.com/office/drawing/2014/main" id="{AB2DB76B-733E-8368-E443-E9EBEEF0EB0F}"/>
                </a:ext>
              </a:extLst>
            </p:cNvPr>
            <p:cNvCxnSpPr/>
            <p:nvPr/>
          </p:nvCxnSpPr>
          <p:spPr bwMode="gray">
            <a:xfrm flipH="1"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08369">
              <a:extLst>
                <a:ext uri="{FF2B5EF4-FFF2-40B4-BE49-F238E27FC236}">
                  <a16:creationId xmlns:a16="http://schemas.microsoft.com/office/drawing/2014/main" id="{4C08F304-6A16-7214-E66D-ABD11B1208CF}"/>
                </a:ext>
              </a:extLst>
            </p:cNvPr>
            <p:cNvCxnSpPr/>
            <p:nvPr/>
          </p:nvCxnSpPr>
          <p:spPr bwMode="gray">
            <a:xfrm flipH="1"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B871E01-A45B-F7B7-8965-E8A451C7305A}"/>
              </a:ext>
            </a:extLst>
          </p:cNvPr>
          <p:cNvSpPr>
            <a:spLocks noGrp="1"/>
          </p:cNvSpPr>
          <p:nvPr>
            <p:ph type="title"/>
          </p:nvPr>
        </p:nvSpPr>
        <p:spPr/>
        <p:txBody>
          <a:bodyPr/>
          <a:lstStyle/>
          <a:p>
            <a:r>
              <a:rPr lang="en-US"/>
              <a:t>Key Reports and Events</a:t>
            </a:r>
          </a:p>
        </p:txBody>
      </p:sp>
      <p:graphicFrame>
        <p:nvGraphicFramePr>
          <p:cNvPr id="13" name="Table 12">
            <a:extLst>
              <a:ext uri="{FF2B5EF4-FFF2-40B4-BE49-F238E27FC236}">
                <a16:creationId xmlns:a16="http://schemas.microsoft.com/office/drawing/2014/main" id="{9B51528E-182B-3A9B-0D6E-CE831F5DF431}"/>
              </a:ext>
            </a:extLst>
          </p:cNvPr>
          <p:cNvGraphicFramePr>
            <a:graphicFrameLocks noGrp="1"/>
          </p:cNvGraphicFramePr>
          <p:nvPr>
            <p:extLst>
              <p:ext uri="{D42A27DB-BD31-4B8C-83A1-F6EECF244321}">
                <p14:modId xmlns:p14="http://schemas.microsoft.com/office/powerpoint/2010/main" val="2932720471"/>
              </p:ext>
            </p:extLst>
          </p:nvPr>
        </p:nvGraphicFramePr>
        <p:xfrm>
          <a:off x="330199" y="1063795"/>
          <a:ext cx="11531598" cy="3842502"/>
        </p:xfrm>
        <a:graphic>
          <a:graphicData uri="http://schemas.openxmlformats.org/drawingml/2006/table">
            <a:tbl>
              <a:tblPr firstRow="1" bandRow="1">
                <a:tableStyleId>{2D5ABB26-0587-4C30-8999-92F81FD0307C}</a:tableStyleId>
              </a:tblPr>
              <a:tblGrid>
                <a:gridCol w="1921933">
                  <a:extLst>
                    <a:ext uri="{9D8B030D-6E8A-4147-A177-3AD203B41FA5}">
                      <a16:colId xmlns:a16="http://schemas.microsoft.com/office/drawing/2014/main" val="3524649771"/>
                    </a:ext>
                  </a:extLst>
                </a:gridCol>
                <a:gridCol w="1921933">
                  <a:extLst>
                    <a:ext uri="{9D8B030D-6E8A-4147-A177-3AD203B41FA5}">
                      <a16:colId xmlns:a16="http://schemas.microsoft.com/office/drawing/2014/main" val="2436942316"/>
                    </a:ext>
                  </a:extLst>
                </a:gridCol>
                <a:gridCol w="1921933">
                  <a:extLst>
                    <a:ext uri="{9D8B030D-6E8A-4147-A177-3AD203B41FA5}">
                      <a16:colId xmlns:a16="http://schemas.microsoft.com/office/drawing/2014/main" val="3679488361"/>
                    </a:ext>
                  </a:extLst>
                </a:gridCol>
                <a:gridCol w="1921933">
                  <a:extLst>
                    <a:ext uri="{9D8B030D-6E8A-4147-A177-3AD203B41FA5}">
                      <a16:colId xmlns:a16="http://schemas.microsoft.com/office/drawing/2014/main" val="2192477301"/>
                    </a:ext>
                  </a:extLst>
                </a:gridCol>
                <a:gridCol w="1921933">
                  <a:extLst>
                    <a:ext uri="{9D8B030D-6E8A-4147-A177-3AD203B41FA5}">
                      <a16:colId xmlns:a16="http://schemas.microsoft.com/office/drawing/2014/main" val="1413890680"/>
                    </a:ext>
                  </a:extLst>
                </a:gridCol>
                <a:gridCol w="1921933">
                  <a:extLst>
                    <a:ext uri="{9D8B030D-6E8A-4147-A177-3AD203B41FA5}">
                      <a16:colId xmlns:a16="http://schemas.microsoft.com/office/drawing/2014/main" val="3432546417"/>
                    </a:ext>
                  </a:extLst>
                </a:gridCol>
              </a:tblGrid>
              <a:tr h="1921251">
                <a:tc>
                  <a:txBody>
                    <a:bodyPr vert="horz" wrap="square"/>
                    <a:lstStyle/>
                    <a:p>
                      <a:pPr marL="0" indent="0">
                        <a:spcBef>
                          <a:spcPct val="0"/>
                        </a:spcBef>
                        <a:buFontTx/>
                        <a:buNone/>
                      </a:pPr>
                      <a:r>
                        <a:rPr lang="en-US" sz="1600" b="1"/>
                        <a:t>January</a:t>
                      </a:r>
                    </a:p>
                    <a:p>
                      <a:pPr marL="177800" indent="-177800">
                        <a:spcBef>
                          <a:spcPct val="0"/>
                        </a:spcBef>
                      </a:pPr>
                      <a:r>
                        <a:rPr lang="en-US" sz="1200"/>
                        <a:t>WEF/Davos</a:t>
                      </a:r>
                    </a:p>
                    <a:p>
                      <a:pPr marL="177800" indent="-177800">
                        <a:spcBef>
                          <a:spcPct val="0"/>
                        </a:spcBef>
                      </a:pPr>
                      <a:r>
                        <a:rPr lang="en-US" sz="1200"/>
                        <a:t>Paper &amp; Packaging Report – AMS</a:t>
                      </a:r>
                    </a:p>
                    <a:p>
                      <a:pPr marL="177800" indent="-177800">
                        <a:spcBef>
                          <a:spcPct val="0"/>
                        </a:spcBef>
                      </a:pPr>
                      <a:r>
                        <a:rPr lang="en-US" sz="1200"/>
                        <a:t>Healthcare PE Report – HLS</a:t>
                      </a:r>
                    </a:p>
                    <a:p>
                      <a:pPr marL="177800" indent="-177800">
                        <a:spcBef>
                          <a:spcPct val="0"/>
                        </a:spcBef>
                      </a:pPr>
                      <a:r>
                        <a:rPr lang="en-US" sz="1200"/>
                        <a:t>Retail Holiday Newsletter – Retail</a:t>
                      </a:r>
                    </a:p>
                    <a:p>
                      <a:pPr marL="177800" indent="-177800">
                        <a:spcBef>
                          <a:spcPct val="0"/>
                        </a:spcBef>
                      </a:pPr>
                      <a:r>
                        <a:rPr lang="en-US" sz="1200"/>
                        <a:t>M&amp;A Report – M&amp;A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ct val="0"/>
                        </a:spcBef>
                        <a:buFontTx/>
                        <a:buNone/>
                      </a:pPr>
                      <a:r>
                        <a:rPr lang="en-US" sz="1600" b="1"/>
                        <a:t>February</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Global PE Report – 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ct val="0"/>
                        </a:spcBef>
                        <a:buFontTx/>
                        <a:buNone/>
                      </a:pPr>
                      <a:r>
                        <a:rPr lang="en-US" sz="1600" b="1"/>
                        <a:t>March</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PE Tech Report – PE</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Mobile World Congress</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Energy Natural Resources Report - ENR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ct val="0"/>
                        </a:spcBef>
                        <a:buFontTx/>
                        <a:buNone/>
                      </a:pPr>
                      <a:r>
                        <a:rPr lang="en-US" sz="1600" b="1"/>
                        <a:t>April</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Hannover Messe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ct val="0"/>
                        </a:spcBef>
                        <a:buFontTx/>
                        <a:buNone/>
                      </a:pPr>
                      <a:r>
                        <a:rPr lang="en-US" sz="1600" b="1"/>
                        <a:t>May</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Milken Conference</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Commercial Excellence Growth Agenda - 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ct val="0"/>
                        </a:spcBef>
                        <a:buFontTx/>
                        <a:buNone/>
                      </a:pPr>
                      <a:r>
                        <a:rPr lang="en-US" sz="1600" b="1"/>
                        <a:t>June</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PEG Midyear Report + SuperReturn - 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9431339"/>
                  </a:ext>
                </a:extLst>
              </a:tr>
              <a:tr h="1921251">
                <a:tc>
                  <a:txBody>
                    <a:bodyPr vert="horz" wrap="square"/>
                    <a:lstStyle/>
                    <a:p>
                      <a:pPr marL="0" indent="0">
                        <a:spcBef>
                          <a:spcPts val="1200"/>
                        </a:spcBef>
                        <a:buFontTx/>
                        <a:buNone/>
                      </a:pPr>
                      <a:r>
                        <a:rPr lang="en-US" sz="1600" b="1"/>
                        <a:t>July</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M&amp;A Midyear Report – M&amp;A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ts val="1200"/>
                        </a:spcBef>
                        <a:buFontTx/>
                        <a:buNone/>
                      </a:pPr>
                      <a:r>
                        <a:rPr lang="en-US" sz="1600" b="1"/>
                        <a:t>August</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Gaming Report - CME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ts val="1200"/>
                        </a:spcBef>
                        <a:buFontTx/>
                        <a:buNone/>
                      </a:pPr>
                      <a:r>
                        <a:rPr lang="en-US" sz="1600" b="1"/>
                        <a:t>September</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Global Tech Report – TMT</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Innovation Report – Strategy</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Sustainability Guide – ESG</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NY Climate Week - ESG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buFontTx/>
                        <a:buNone/>
                      </a:pPr>
                      <a:r>
                        <a:rPr lang="en-US" sz="1600" b="1"/>
                        <a:t>October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spcBef>
                          <a:spcPts val="1200"/>
                        </a:spcBef>
                        <a:buFontTx/>
                        <a:buNone/>
                      </a:pPr>
                      <a:r>
                        <a:rPr lang="en-US" sz="1600" b="1"/>
                        <a:t>November</a:t>
                      </a:r>
                    </a:p>
                    <a:p>
                      <a:pPr marL="177800" indent="-177800" algn="l" defTabSz="711200" rtl="0" eaLnBrk="1" latinLnBrk="0" hangingPunct="1">
                        <a:spcBef>
                          <a:spcPct val="0"/>
                        </a:spcBef>
                        <a:buChar char="•"/>
                      </a:pPr>
                      <a:r>
                        <a:rPr lang="en-US" sz="1200" kern="1200">
                          <a:solidFill>
                            <a:schemeClr val="tx1"/>
                          </a:solidFill>
                          <a:latin typeface="+mn-lt"/>
                          <a:ea typeface="+mn-ea"/>
                          <a:cs typeface="+mn-cs"/>
                        </a:rPr>
                        <a:t>COP - ESG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vert="horz" wrap="square"/>
                    <a:lstStyle/>
                    <a:p>
                      <a:pPr marL="0" indent="0">
                        <a:buFontTx/>
                        <a:buNone/>
                      </a:pPr>
                      <a:r>
                        <a:rPr lang="en-US" sz="1600" b="1"/>
                        <a:t>December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2889671"/>
                  </a:ext>
                </a:extLst>
              </a:tr>
            </a:tbl>
          </a:graphicData>
        </a:graphic>
      </p:graphicFrame>
    </p:spTree>
    <p:custDataLst>
      <p:tags r:id="rId3"/>
    </p:custDataLst>
    <p:extLst>
      <p:ext uri="{BB962C8B-B14F-4D97-AF65-F5344CB8AC3E}">
        <p14:creationId xmlns:p14="http://schemas.microsoft.com/office/powerpoint/2010/main" val="1668862035"/>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20" name="think-cell data - do not delete" hidden="1">
            <a:extLst>
              <a:ext uri="{FF2B5EF4-FFF2-40B4-BE49-F238E27FC236}">
                <a16:creationId xmlns:a16="http://schemas.microsoft.com/office/drawing/2014/main" id="{C0470F12-0756-0EE8-7D5C-12129D0E8417}"/>
              </a:ext>
            </a:extLst>
          </p:cNvPr>
          <p:cNvGraphicFramePr>
            <a:graphicFrameLocks noChangeAspect="1"/>
          </p:cNvGraphicFramePr>
          <p:nvPr>
            <p:custDataLst>
              <p:tags r:id="rId2"/>
            </p:custDataLst>
            <p:extLst>
              <p:ext uri="{D42A27DB-BD31-4B8C-83A1-F6EECF244321}">
                <p14:modId xmlns:p14="http://schemas.microsoft.com/office/powerpoint/2010/main" val="256316541"/>
              </p:ext>
            </p:extLst>
          </p:nvPr>
        </p:nvGraphicFramePr>
        <p:xfrm>
          <a:off x="1588" y="1588"/>
          <a:ext cx="1588" cy="1588"/>
        </p:xfrm>
        <a:graphic>
          <a:graphicData uri="http://schemas.openxmlformats.org/presentationml/2006/ole">
            <mc:AlternateContent>
              <mc:Choice xmlns:v="urn:schemas-microsoft-com:vml" Requires="v">
                <p:oleObj spid="_x0000_s1039"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1" name="btfpColumnIndicatorGroup2">
            <a:extLst>
              <a:ext uri="{FF2B5EF4-FFF2-40B4-BE49-F238E27FC236}">
                <a16:creationId xmlns:a16="http://schemas.microsoft.com/office/drawing/2014/main" id="{32A809F0-D5BC-6D32-0CC5-EAA5C0CFB54F}"/>
              </a:ext>
            </a:extLst>
          </p:cNvPr>
          <p:cNvGrpSpPr/>
          <p:nvPr/>
        </p:nvGrpSpPr>
        <p:grpSpPr>
          <a:xfrm>
            <a:off x="0" y="6926580"/>
            <a:ext cx="12192000" cy="137160"/>
            <a:chOff x="0" y="6926580"/>
            <a:chExt cx="12192000" cy="137160"/>
          </a:xfrm>
        </p:grpSpPr>
        <p:sp>
          <p:nvSpPr>
            <p:cNvPr id="9" name="btfpColumnGapBlocker361596">
              <a:extLst>
                <a:ext uri="{FF2B5EF4-FFF2-40B4-BE49-F238E27FC236}">
                  <a16:creationId xmlns:a16="http://schemas.microsoft.com/office/drawing/2014/main" id="{BAD73127-A55B-4252-C05A-80728735384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7" name="btfpColumnGapBlocker936745">
              <a:extLst>
                <a:ext uri="{FF2B5EF4-FFF2-40B4-BE49-F238E27FC236}">
                  <a16:creationId xmlns:a16="http://schemas.microsoft.com/office/drawing/2014/main" id="{FF6DAB12-AB80-B4EE-1FA9-7C3371F522AA}"/>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5" name="btfpColumnIndicator938788">
              <a:extLst>
                <a:ext uri="{FF2B5EF4-FFF2-40B4-BE49-F238E27FC236}">
                  <a16:creationId xmlns:a16="http://schemas.microsoft.com/office/drawing/2014/main" id="{87C20602-ADA1-A58D-6266-C5EC6DA4D542}"/>
                </a:ext>
              </a:extLst>
            </p:cNvPr>
            <p:cNvCxnSpPr/>
            <p:nvPr/>
          </p:nvCxnSpPr>
          <p:spPr bwMode="gray">
            <a:xfrm flipH="1"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174256">
              <a:extLst>
                <a:ext uri="{FF2B5EF4-FFF2-40B4-BE49-F238E27FC236}">
                  <a16:creationId xmlns:a16="http://schemas.microsoft.com/office/drawing/2014/main" id="{D20D25BA-BE1F-E422-FE53-79369FE165FD}"/>
                </a:ext>
              </a:extLst>
            </p:cNvPr>
            <p:cNvCxnSpPr/>
            <p:nvPr/>
          </p:nvCxnSpPr>
          <p:spPr bwMode="gray">
            <a:xfrm flipH="1"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0" name="btfpColumnIndicatorGroup1">
            <a:extLst>
              <a:ext uri="{FF2B5EF4-FFF2-40B4-BE49-F238E27FC236}">
                <a16:creationId xmlns:a16="http://schemas.microsoft.com/office/drawing/2014/main" id="{C8FDEA86-6B7C-E5FF-C88E-E3C5B49F20D0}"/>
              </a:ext>
            </a:extLst>
          </p:cNvPr>
          <p:cNvGrpSpPr/>
          <p:nvPr/>
        </p:nvGrpSpPr>
        <p:grpSpPr>
          <a:xfrm>
            <a:off x="0" y="-205740"/>
            <a:ext cx="12192000" cy="137160"/>
            <a:chOff x="0" y="-205740"/>
            <a:chExt cx="12192000" cy="137160"/>
          </a:xfrm>
        </p:grpSpPr>
        <p:sp>
          <p:nvSpPr>
            <p:cNvPr id="8" name="btfpColumnGapBlocker928271">
              <a:extLst>
                <a:ext uri="{FF2B5EF4-FFF2-40B4-BE49-F238E27FC236}">
                  <a16:creationId xmlns:a16="http://schemas.microsoft.com/office/drawing/2014/main" id="{F76F424D-BDA1-830A-32A8-DAF07D5611F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6" name="btfpColumnGapBlocker495938">
              <a:extLst>
                <a:ext uri="{FF2B5EF4-FFF2-40B4-BE49-F238E27FC236}">
                  <a16:creationId xmlns:a16="http://schemas.microsoft.com/office/drawing/2014/main" id="{E1AECDC4-F830-E217-3EAC-8D0505C539E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4" name="btfpColumnIndicator677607">
              <a:extLst>
                <a:ext uri="{FF2B5EF4-FFF2-40B4-BE49-F238E27FC236}">
                  <a16:creationId xmlns:a16="http://schemas.microsoft.com/office/drawing/2014/main" id="{682D460D-EAC5-3DF2-E96F-5A639DC56F2A}"/>
                </a:ext>
              </a:extLst>
            </p:cNvPr>
            <p:cNvCxnSpPr/>
            <p:nvPr/>
          </p:nvCxnSpPr>
          <p:spPr bwMode="gray">
            <a:xfrm flipH="1"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 name="btfpColumnIndicator615217">
              <a:extLst>
                <a:ext uri="{FF2B5EF4-FFF2-40B4-BE49-F238E27FC236}">
                  <a16:creationId xmlns:a16="http://schemas.microsoft.com/office/drawing/2014/main" id="{58744B5C-F9C0-2611-C38B-7A7A298FB175}"/>
                </a:ext>
              </a:extLst>
            </p:cNvPr>
            <p:cNvCxnSpPr/>
            <p:nvPr/>
          </p:nvCxnSpPr>
          <p:spPr bwMode="gray">
            <a:xfrm flipH="1"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12" name="btfpTable570053">
            <a:extLst>
              <a:ext uri="{FF2B5EF4-FFF2-40B4-BE49-F238E27FC236}">
                <a16:creationId xmlns:a16="http://schemas.microsoft.com/office/drawing/2014/main" id="{D6C2AB29-8077-0824-0B92-6B1D84C7280B}"/>
              </a:ext>
            </a:extLst>
          </p:cNvPr>
          <p:cNvGraphicFramePr>
            <a:graphicFrameLocks noGrp="1"/>
          </p:cNvGraphicFramePr>
          <p:nvPr>
            <p:custDataLst>
              <p:tags r:id="rId5"/>
            </p:custDataLst>
            <p:extLst>
              <p:ext uri="{D42A27DB-BD31-4B8C-83A1-F6EECF244321}">
                <p14:modId xmlns:p14="http://schemas.microsoft.com/office/powerpoint/2010/main" val="361894970"/>
              </p:ext>
            </p:extLst>
          </p:nvPr>
        </p:nvGraphicFramePr>
        <p:xfrm>
          <a:off x="330200" y="1270000"/>
          <a:ext cx="11531600" cy="5196840"/>
        </p:xfrm>
        <a:graphic>
          <a:graphicData uri="http://schemas.openxmlformats.org/drawingml/2006/table">
            <a:tbl>
              <a:tblPr firstRow="1" firstCol="1">
                <a:tableStyleId>{9D7B26C5-4107-4FEC-AEDC-1716B250A1EF}</a:tableStyleId>
              </a:tblPr>
              <a:tblGrid>
                <a:gridCol w="1233426">
                  <a:extLst>
                    <a:ext uri="{9D8B030D-6E8A-4147-A177-3AD203B41FA5}">
                      <a16:colId xmlns:a16="http://schemas.microsoft.com/office/drawing/2014/main" val="39789201"/>
                    </a:ext>
                  </a:extLst>
                </a:gridCol>
                <a:gridCol w="1837942">
                  <a:extLst>
                    <a:ext uri="{9D8B030D-6E8A-4147-A177-3AD203B41FA5}">
                      <a16:colId xmlns:a16="http://schemas.microsoft.com/office/drawing/2014/main" val="4033970088"/>
                    </a:ext>
                  </a:extLst>
                </a:gridCol>
                <a:gridCol w="1325880">
                  <a:extLst>
                    <a:ext uri="{9D8B030D-6E8A-4147-A177-3AD203B41FA5}">
                      <a16:colId xmlns:a16="http://schemas.microsoft.com/office/drawing/2014/main" val="2498033224"/>
                    </a:ext>
                  </a:extLst>
                </a:gridCol>
                <a:gridCol w="987552">
                  <a:extLst>
                    <a:ext uri="{9D8B030D-6E8A-4147-A177-3AD203B41FA5}">
                      <a16:colId xmlns:a16="http://schemas.microsoft.com/office/drawing/2014/main" val="2743447410"/>
                    </a:ext>
                  </a:extLst>
                </a:gridCol>
                <a:gridCol w="1472184">
                  <a:extLst>
                    <a:ext uri="{9D8B030D-6E8A-4147-A177-3AD203B41FA5}">
                      <a16:colId xmlns:a16="http://schemas.microsoft.com/office/drawing/2014/main" val="3890390591"/>
                    </a:ext>
                  </a:extLst>
                </a:gridCol>
                <a:gridCol w="1078992">
                  <a:extLst>
                    <a:ext uri="{9D8B030D-6E8A-4147-A177-3AD203B41FA5}">
                      <a16:colId xmlns:a16="http://schemas.microsoft.com/office/drawing/2014/main" val="346105412"/>
                    </a:ext>
                  </a:extLst>
                </a:gridCol>
                <a:gridCol w="3595624">
                  <a:extLst>
                    <a:ext uri="{9D8B030D-6E8A-4147-A177-3AD203B41FA5}">
                      <a16:colId xmlns:a16="http://schemas.microsoft.com/office/drawing/2014/main" val="2241445207"/>
                    </a:ext>
                  </a:extLst>
                </a:gridCol>
              </a:tblGrid>
              <a:tr h="533693">
                <a:tc>
                  <a:txBody>
                    <a:bodyPr vert="horz" wrap="square"/>
                    <a:lstStyle/>
                    <a:p>
                      <a:pPr marL="0" indent="0" rtl="0">
                        <a:spcBef>
                          <a:spcPct val="0"/>
                        </a:spcBef>
                        <a:buFontTx/>
                        <a:buNone/>
                      </a:pPr>
                      <a:r>
                        <a:rPr lang="en-US" sz="1200" noProof="0"/>
                        <a:t>Practice</a:t>
                      </a:r>
                    </a:p>
                  </a:txBody>
                  <a:tcPr/>
                </a:tc>
                <a:tc>
                  <a:txBody>
                    <a:bodyPr vert="horz" wrap="square"/>
                    <a:lstStyle/>
                    <a:p>
                      <a:pPr marL="0" indent="0" rtl="0">
                        <a:spcBef>
                          <a:spcPct val="0"/>
                        </a:spcBef>
                        <a:buFontTx/>
                        <a:buNone/>
                      </a:pPr>
                      <a:r>
                        <a:rPr lang="en-US" sz="1200" noProof="0"/>
                        <a:t>Campaign Name</a:t>
                      </a:r>
                    </a:p>
                  </a:txBody>
                  <a:tcPr/>
                </a:tc>
                <a:tc>
                  <a:txBody>
                    <a:bodyPr vert="horz" wrap="square"/>
                    <a:lstStyle/>
                    <a:p>
                      <a:pPr marL="0" indent="0" rtl="0">
                        <a:spcBef>
                          <a:spcPct val="0"/>
                        </a:spcBef>
                        <a:buFontTx/>
                        <a:buNone/>
                      </a:pPr>
                      <a:r>
                        <a:rPr lang="en-US" sz="1200" noProof="0"/>
                        <a:t>Campaign type </a:t>
                      </a:r>
                    </a:p>
                    <a:p>
                      <a:pPr marL="0" indent="0" rtl="0">
                        <a:spcBef>
                          <a:spcPct val="0"/>
                        </a:spcBef>
                        <a:buFontTx/>
                        <a:buNone/>
                      </a:pPr>
                      <a:r>
                        <a:rPr lang="en-US" sz="900" b="0" i="0" noProof="0"/>
                        <a:t>(using Campaign Framework)</a:t>
                      </a:r>
                      <a:endParaRPr lang="en-US" sz="1200" b="0" i="0" noProof="0"/>
                    </a:p>
                  </a:txBody>
                  <a:tcPr/>
                </a:tc>
                <a:tc>
                  <a:txBody>
                    <a:bodyPr vert="horz" wrap="square"/>
                    <a:lstStyle/>
                    <a:p>
                      <a:pPr marL="0" indent="0" rtl="0">
                        <a:spcBef>
                          <a:spcPct val="0"/>
                        </a:spcBef>
                        <a:buFontTx/>
                        <a:buNone/>
                      </a:pPr>
                      <a:r>
                        <a:rPr lang="en-US" sz="1200" noProof="0"/>
                        <a:t>Timing</a:t>
                      </a:r>
                      <a:br>
                        <a:rPr lang="en-US" sz="1400" noProof="0"/>
                      </a:br>
                      <a:r>
                        <a:rPr lang="en-US" sz="900" b="0" noProof="0"/>
                        <a:t>(or date if available)  </a:t>
                      </a:r>
                      <a:endParaRPr lang="en-US" sz="1400" b="0" noProof="0"/>
                    </a:p>
                  </a:txBody>
                  <a:tcPr/>
                </a:tc>
                <a:tc>
                  <a:txBody>
                    <a:bodyPr vert="horz" wrap="square"/>
                    <a:lstStyle/>
                    <a:p>
                      <a:pPr marL="0" indent="0" rtl="0">
                        <a:spcBef>
                          <a:spcPct val="0"/>
                        </a:spcBef>
                        <a:buFontTx/>
                        <a:buNone/>
                      </a:pPr>
                      <a:r>
                        <a:rPr lang="en-US" sz="1200" i="0" noProof="0"/>
                        <a:t>Relevance to/ involvement of other Practices</a:t>
                      </a:r>
                    </a:p>
                  </a:txBody>
                  <a:tcPr/>
                </a:tc>
                <a:tc>
                  <a:txBody>
                    <a:bodyPr vert="horz" wrap="square"/>
                    <a:lstStyle/>
                    <a:p>
                      <a:pPr marL="0" indent="0" rtl="0">
                        <a:spcBef>
                          <a:spcPct val="0"/>
                        </a:spcBef>
                        <a:buFontTx/>
                        <a:buNone/>
                      </a:pPr>
                      <a:r>
                        <a:rPr lang="en-US" sz="1200" i="0" noProof="0"/>
                        <a:t>Location </a:t>
                      </a:r>
                      <a:br>
                        <a:rPr lang="en-US" sz="1200" i="0" noProof="0"/>
                      </a:br>
                      <a:r>
                        <a:rPr lang="en-US" sz="900" b="0" i="0" noProof="0"/>
                        <a:t>(if any or specifying country data)</a:t>
                      </a:r>
                      <a:endParaRPr lang="en-US" sz="1200" i="0" noProof="0"/>
                    </a:p>
                  </a:txBody>
                  <a:tcPr/>
                </a:tc>
                <a:tc>
                  <a:txBody>
                    <a:bodyPr vert="horz" wrap="square"/>
                    <a:lstStyle/>
                    <a:p>
                      <a:pPr marL="0" indent="0" rtl="0">
                        <a:spcBef>
                          <a:spcPct val="0"/>
                        </a:spcBef>
                        <a:buFontTx/>
                        <a:buNone/>
                      </a:pPr>
                      <a:r>
                        <a:rPr lang="en-US" sz="1200" noProof="0"/>
                        <a:t>Other considerations</a:t>
                      </a:r>
                      <a:br>
                        <a:rPr lang="en-US" sz="1200" noProof="0"/>
                      </a:br>
                      <a:r>
                        <a:rPr lang="en-US" sz="900" b="0" i="0" noProof="0"/>
                        <a:t>(including distribution plans) </a:t>
                      </a:r>
                      <a:endParaRPr lang="en-US" sz="1400" b="0" i="0" noProof="0"/>
                    </a:p>
                  </a:txBody>
                  <a:tcPr/>
                </a:tc>
                <a:extLst>
                  <a:ext uri="{0D108BD9-81ED-4DB2-BD59-A6C34878D82A}">
                    <a16:rowId xmlns:a16="http://schemas.microsoft.com/office/drawing/2014/main" val="4104644541"/>
                  </a:ext>
                </a:extLst>
              </a:tr>
              <a:tr h="332076">
                <a:tc>
                  <a:txBody>
                    <a:bodyPr vert="horz" wrap="square"/>
                    <a:lstStyle/>
                    <a:p>
                      <a:pPr marL="0" indent="0" algn="l" rtl="0">
                        <a:buFontTx/>
                        <a:buNone/>
                      </a:pPr>
                      <a:r>
                        <a:rPr lang="en-US" sz="1000" noProof="0">
                          <a:latin typeface="+mj-lt"/>
                        </a:rPr>
                        <a:t>Strategy &amp; Transformation</a:t>
                      </a:r>
                    </a:p>
                  </a:txBody>
                  <a:tcPr>
                    <a:solidFill>
                      <a:srgbClr val="FFFFFF"/>
                    </a:solidFill>
                  </a:tcPr>
                </a:tc>
                <a:tc>
                  <a:txBody>
                    <a:bodyPr vert="horz" wrap="square"/>
                    <a:lstStyle/>
                    <a:p>
                      <a:pPr marL="0" indent="0" algn="l">
                        <a:buFontTx/>
                        <a:buNone/>
                      </a:pPr>
                      <a:r>
                        <a:rPr lang="en-US" sz="1000" b="1" i="1" noProof="0">
                          <a:latin typeface="+mj-lt"/>
                        </a:rPr>
                        <a:t>Founder’s Mentality: The CEO Sessions </a:t>
                      </a:r>
                      <a:r>
                        <a:rPr lang="en-US" sz="1000" b="1" noProof="0">
                          <a:latin typeface="+mj-lt"/>
                        </a:rPr>
                        <a:t>podcast</a:t>
                      </a:r>
                    </a:p>
                  </a:txBody>
                  <a:tcPr>
                    <a:solidFill>
                      <a:srgbClr val="FFFFFF"/>
                    </a:solidFill>
                  </a:tcPr>
                </a:tc>
                <a:tc>
                  <a:txBody>
                    <a:bodyPr vert="horz" wrap="square"/>
                    <a:lstStyle/>
                    <a:p>
                      <a:pPr marL="0" indent="0">
                        <a:buFontTx/>
                        <a:buNone/>
                      </a:pPr>
                      <a:r>
                        <a:rPr lang="en-US" sz="1000" noProof="0">
                          <a:latin typeface="+mj-lt"/>
                        </a:rPr>
                        <a:t>Strategic POV (episodic)</a:t>
                      </a:r>
                    </a:p>
                  </a:txBody>
                  <a:tcPr>
                    <a:solidFill>
                      <a:srgbClr val="FFFFFF"/>
                    </a:solidFill>
                  </a:tcPr>
                </a:tc>
                <a:tc>
                  <a:txBody>
                    <a:bodyPr vert="horz" wrap="square"/>
                    <a:lstStyle/>
                    <a:p>
                      <a:pPr marL="0" indent="0">
                        <a:buNone/>
                      </a:pPr>
                      <a:r>
                        <a:rPr lang="en-US" sz="1000" noProof="0">
                          <a:latin typeface="+mj-lt"/>
                        </a:rPr>
                        <a:t>Oct 2025 – Mar 2026</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10 CEOs spanning markets and sectors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Jimmy Allen’s CEO Forums may transition to in-person by market in EMEA and APAC, off back of podcast </a:t>
                      </a:r>
                    </a:p>
                  </a:txBody>
                  <a:tcPr>
                    <a:solidFill>
                      <a:srgbClr val="FFFFFF"/>
                    </a:solidFill>
                  </a:tcPr>
                </a:tc>
                <a:extLst>
                  <a:ext uri="{0D108BD9-81ED-4DB2-BD59-A6C34878D82A}">
                    <a16:rowId xmlns:a16="http://schemas.microsoft.com/office/drawing/2014/main" val="1278200198"/>
                  </a:ext>
                </a:extLst>
              </a:tr>
              <a:tr h="332076">
                <a:tc>
                  <a:txBody>
                    <a:bodyPr vert="horz" wrap="square"/>
                    <a:lstStyle/>
                    <a:p>
                      <a:pPr marL="0" indent="0" algn="l" rtl="0">
                        <a:buFontTx/>
                        <a:buNone/>
                      </a:pPr>
                      <a:r>
                        <a:rPr lang="en-US" sz="1000" noProof="0">
                          <a:latin typeface="+mj-lt"/>
                        </a:rPr>
                        <a:t>ENR</a:t>
                      </a:r>
                    </a:p>
                  </a:txBody>
                  <a:tcPr>
                    <a:solidFill>
                      <a:srgbClr val="FFFFFF"/>
                    </a:solidFill>
                  </a:tcPr>
                </a:tc>
                <a:tc>
                  <a:txBody>
                    <a:bodyPr vert="horz" wrap="square"/>
                    <a:lstStyle/>
                    <a:p>
                      <a:pPr marL="0" indent="0" algn="l">
                        <a:buFontTx/>
                        <a:buNone/>
                      </a:pPr>
                      <a:r>
                        <a:rPr lang="en-US" sz="1000" b="1" noProof="0">
                          <a:latin typeface="+mj-lt"/>
                        </a:rPr>
                        <a:t>Investor perspectives in O&amp;G </a:t>
                      </a:r>
                      <a:r>
                        <a:rPr lang="en-US" sz="1000" b="0" noProof="0">
                          <a:latin typeface="+mj-lt"/>
                        </a:rPr>
                        <a:t>(</a:t>
                      </a:r>
                      <a:r>
                        <a:rPr lang="en-US" sz="1000" noProof="0">
                          <a:latin typeface="+mj-lt"/>
                        </a:rPr>
                        <a:t>based on proprietary insights gleaned from investor interviews, 4 TSR analyses, 4 Investor Perspective Diligences (IPD)</a:t>
                      </a:r>
                      <a:endParaRPr lang="en-US" sz="1000" b="1" noProof="0">
                        <a:latin typeface="+mj-lt"/>
                      </a:endParaRPr>
                    </a:p>
                  </a:txBody>
                  <a:tcPr>
                    <a:solidFill>
                      <a:srgbClr val="FFFFFF"/>
                    </a:solidFill>
                  </a:tcPr>
                </a:tc>
                <a:tc>
                  <a:txBody>
                    <a:bodyPr vert="horz" wrap="square"/>
                    <a:lstStyle/>
                    <a:p>
                      <a:pPr marL="0" indent="0">
                        <a:buFontTx/>
                        <a:buNone/>
                      </a:pPr>
                      <a:r>
                        <a:rPr lang="en-US" sz="1000" noProof="0">
                          <a:latin typeface="+mj-lt"/>
                        </a:rPr>
                        <a:t>Strategic POV</a:t>
                      </a:r>
                    </a:p>
                  </a:txBody>
                  <a:tcPr>
                    <a:solidFill>
                      <a:srgbClr val="FFFFFF"/>
                    </a:solidFill>
                  </a:tcPr>
                </a:tc>
                <a:tc>
                  <a:txBody>
                    <a:bodyPr vert="horz" wrap="square"/>
                    <a:lstStyle/>
                    <a:p>
                      <a:pPr marL="0" indent="0">
                        <a:buNone/>
                      </a:pPr>
                      <a:r>
                        <a:rPr lang="en-US" sz="1000" noProof="0">
                          <a:latin typeface="+mj-lt"/>
                        </a:rPr>
                        <a:t>Week of Dec. 8; promotion through Q1</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PEG, FS, Sustainability</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Relevant to all regions where O&amp;G is a priority </a:t>
                      </a:r>
                    </a:p>
                  </a:txBody>
                  <a:tcPr>
                    <a:solidFill>
                      <a:srgbClr val="FFFFFF"/>
                    </a:solidFill>
                  </a:tcPr>
                </a:tc>
                <a:tc>
                  <a:txBody>
                    <a:bodyPr vert="horz" wrap="square"/>
                    <a:lstStyle/>
                    <a:p>
                      <a:pPr marL="0" indent="0" algn="l" rtl="0">
                        <a:buFontTx/>
                        <a:buNone/>
                      </a:pPr>
                      <a:r>
                        <a:rPr lang="en-US" sz="1000" noProof="0">
                          <a:latin typeface="+mj-lt"/>
                        </a:rPr>
                        <a:t>Summary: Investors expect companies to deliver strong total returns through reliable free cash flow, high returns on employed capital, and consistent payouts. These elements are table stakes. Emphasis has shifted to harvesting value over investing in growth. Winners will distinguish themselves by how they use their unique assets and capabilities to secure cash flows for the long term. Investors expect strategic, cost-disciplined portfolio renewal, focused on the quality and competitiveness of reserves, not just quantity.</a:t>
                      </a:r>
                    </a:p>
                  </a:txBody>
                  <a:tcPr>
                    <a:solidFill>
                      <a:srgbClr val="FFFFFF"/>
                    </a:solidFill>
                  </a:tcPr>
                </a:tc>
                <a:extLst>
                  <a:ext uri="{0D108BD9-81ED-4DB2-BD59-A6C34878D82A}">
                    <a16:rowId xmlns:a16="http://schemas.microsoft.com/office/drawing/2014/main" val="3600759233"/>
                  </a:ext>
                </a:extLst>
              </a:tr>
              <a:tr h="332076">
                <a:tc>
                  <a:txBody>
                    <a:bodyPr vert="horz" wrap="square"/>
                    <a:lstStyle/>
                    <a:p>
                      <a:pPr marL="0" indent="0" algn="l" rtl="0">
                        <a:buFontTx/>
                        <a:buNone/>
                      </a:pPr>
                      <a:r>
                        <a:rPr lang="en-US" sz="1000" noProof="0"/>
                        <a:t>ENR</a:t>
                      </a:r>
                    </a:p>
                  </a:txBody>
                  <a:tcPr>
                    <a:solidFill>
                      <a:srgbClr val="FFFFFF"/>
                    </a:solidFill>
                  </a:tcPr>
                </a:tc>
                <a:tc>
                  <a:txBody>
                    <a:bodyPr vert="horz" wrap="square"/>
                    <a:lstStyle/>
                    <a:p>
                      <a:pPr marL="0" indent="0" algn="l">
                        <a:buFontTx/>
                        <a:buNone/>
                      </a:pPr>
                      <a:r>
                        <a:rPr lang="en-US" sz="1000" b="1" noProof="0"/>
                        <a:t>Energy &amp; Materials POV (update of the ‘Dual Challenge’ perspective)</a:t>
                      </a:r>
                    </a:p>
                  </a:txBody>
                  <a:tcPr>
                    <a:solidFill>
                      <a:srgbClr val="FFFFFF"/>
                    </a:solidFill>
                  </a:tcPr>
                </a:tc>
                <a:tc>
                  <a:txBody>
                    <a:bodyPr vert="horz" wrap="square"/>
                    <a:lstStyle/>
                    <a:p>
                      <a:pPr marL="0" indent="0">
                        <a:buFontTx/>
                        <a:buNone/>
                      </a:pPr>
                      <a:r>
                        <a:rPr lang="en-US" sz="1000" noProof="0"/>
                        <a:t>Strategic POV</a:t>
                      </a:r>
                    </a:p>
                  </a:txBody>
                  <a:tcPr>
                    <a:solidFill>
                      <a:srgbClr val="FFFFFF"/>
                    </a:solidFill>
                  </a:tcPr>
                </a:tc>
                <a:tc>
                  <a:txBody>
                    <a:bodyPr vert="horz" wrap="square"/>
                    <a:lstStyle/>
                    <a:p>
                      <a:pPr marL="0" indent="0">
                        <a:buNone/>
                      </a:pPr>
                      <a:r>
                        <a:rPr lang="en-US" sz="1000" noProof="0"/>
                        <a:t>Q1 (ideally ahead of ENR survey)</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Sustainability represented on SteerCo; </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Relevant to all regions where ENR is a priority</a:t>
                      </a:r>
                    </a:p>
                  </a:txBody>
                  <a:tcPr>
                    <a:solidFill>
                      <a:srgbClr val="FFFFFF"/>
                    </a:solidFill>
                  </a:tcPr>
                </a:tc>
                <a:tc>
                  <a:txBody>
                    <a:bodyPr vert="horz" wrap="square"/>
                    <a:lstStyle/>
                    <a:p>
                      <a:pPr marL="0" indent="0" algn="l" rtl="0">
                        <a:buFontTx/>
                        <a:buNone/>
                      </a:pPr>
                      <a:r>
                        <a:rPr lang="en-US" sz="1000" noProof="0"/>
                        <a:t>Bain’s definitive POV on the evolving energy and resources landscape; will include 4 different scenarios of how the energy landscape could play out, and what companies might do in each scenario; it will also touch on a few key topics like AI, policy / regulation and sustainability); Will likely cover 7 markets: U.S., China, Europe, East Asia, Middle East, India, Africa</a:t>
                      </a:r>
                    </a:p>
                  </a:txBody>
                  <a:tcPr>
                    <a:solidFill>
                      <a:srgbClr val="FFFFFF"/>
                    </a:solidFill>
                  </a:tcPr>
                </a:tc>
                <a:extLst>
                  <a:ext uri="{0D108BD9-81ED-4DB2-BD59-A6C34878D82A}">
                    <a16:rowId xmlns:a16="http://schemas.microsoft.com/office/drawing/2014/main" val="3701882257"/>
                  </a:ext>
                </a:extLst>
              </a:tr>
              <a:tr h="332076">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FS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Global Insurance 2026 Outlook </a:t>
                      </a:r>
                    </a:p>
                  </a:txBody>
                  <a:tcPr>
                    <a:solidFill>
                      <a:srgbClr val="FFFFFF"/>
                    </a:solidFill>
                  </a:tcPr>
                </a:tc>
                <a:tc>
                  <a:txBody>
                    <a:bodyPr vert="horz" wrap="square"/>
                    <a:lstStyle/>
                    <a:p>
                      <a:pPr marL="0" indent="0">
                        <a:buFontTx/>
                        <a:buNone/>
                      </a:pPr>
                      <a:r>
                        <a:rPr lang="en-US" sz="1000" noProof="0">
                          <a:latin typeface="+mj-lt"/>
                        </a:rPr>
                        <a:t>(Brief) Report</a:t>
                      </a:r>
                    </a:p>
                  </a:txBody>
                  <a:tcPr>
                    <a:solidFill>
                      <a:srgbClr val="FFFFFF"/>
                    </a:solidFill>
                  </a:tcPr>
                </a:tc>
                <a:tc>
                  <a:txBody>
                    <a:bodyPr vert="horz" wrap="square"/>
                    <a:lstStyle/>
                    <a:p>
                      <a:pPr marL="0" indent="0" rtl="0">
                        <a:buNone/>
                      </a:pPr>
                      <a:r>
                        <a:rPr lang="en-US" sz="1000" noProof="0">
                          <a:latin typeface="+mj-lt"/>
                        </a:rPr>
                        <a:t>Q1</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2</a:t>
                      </a:r>
                      <a:r>
                        <a:rPr lang="en-US" sz="1000" baseline="30000" noProof="0">
                          <a:latin typeface="+mj-lt"/>
                        </a:rPr>
                        <a:t>nd</a:t>
                      </a:r>
                      <a:r>
                        <a:rPr lang="en-US" sz="1000" noProof="0">
                          <a:latin typeface="+mj-lt"/>
                        </a:rPr>
                        <a:t> edition of a recurring annual ins. view distributed through a multi-channel campaign</a:t>
                      </a:r>
                    </a:p>
                  </a:txBody>
                  <a:tcPr>
                    <a:solidFill>
                      <a:srgbClr val="FFFFFF"/>
                    </a:solidFill>
                  </a:tcPr>
                </a:tc>
                <a:extLst>
                  <a:ext uri="{0D108BD9-81ED-4DB2-BD59-A6C34878D82A}">
                    <a16:rowId xmlns:a16="http://schemas.microsoft.com/office/drawing/2014/main" val="1471829805"/>
                  </a:ext>
                </a:extLst>
              </a:tr>
              <a:tr h="332076">
                <a:tc>
                  <a:txBody>
                    <a:bodyPr vert="horz" wrap="square"/>
                    <a:lstStyle/>
                    <a:p>
                      <a:pPr marL="0" indent="0" algn="l" rtl="0">
                        <a:buFontTx/>
                        <a:buNone/>
                      </a:pPr>
                      <a:r>
                        <a:rPr lang="en-US" sz="1000" b="1" noProof="0">
                          <a:latin typeface="+mj-lt"/>
                        </a:rPr>
                        <a:t>AMS</a:t>
                      </a:r>
                    </a:p>
                  </a:txBody>
                  <a:tcPr>
                    <a:solidFill>
                      <a:srgbClr val="FFFFFF"/>
                    </a:solidFill>
                  </a:tcPr>
                </a:tc>
                <a:tc>
                  <a:txBody>
                    <a:bodyPr vert="horz" wrap="square"/>
                    <a:lstStyle/>
                    <a:p>
                      <a:pPr marL="0" indent="0" algn="l" rtl="0">
                        <a:buFontTx/>
                        <a:buNone/>
                      </a:pPr>
                      <a:r>
                        <a:rPr lang="en-US" sz="1000" b="1" noProof="0">
                          <a:latin typeface="+mj-lt"/>
                        </a:rPr>
                        <a:t>Paper &amp; Packaging Report 2026</a:t>
                      </a:r>
                    </a:p>
                  </a:txBody>
                  <a:tcPr>
                    <a:solidFill>
                      <a:srgbClr val="BBCABA"/>
                    </a:solidFill>
                  </a:tcPr>
                </a:tc>
                <a:tc>
                  <a:txBody>
                    <a:bodyPr vert="horz" wrap="square"/>
                    <a:lstStyle/>
                    <a:p>
                      <a:pPr marL="0" indent="0" rtl="0">
                        <a:buFontTx/>
                        <a:buNone/>
                      </a:pPr>
                      <a:r>
                        <a:rPr lang="en-US" sz="1000" noProof="0">
                          <a:latin typeface="+mj-lt"/>
                        </a:rPr>
                        <a:t>Report campaign</a:t>
                      </a:r>
                    </a:p>
                  </a:txBody>
                  <a:tcPr>
                    <a:solidFill>
                      <a:srgbClr val="FFFFFF"/>
                    </a:solidFill>
                  </a:tcPr>
                </a:tc>
                <a:tc>
                  <a:txBody>
                    <a:bodyPr vert="horz" wrap="square"/>
                    <a:lstStyle/>
                    <a:p>
                      <a:pPr marL="0" indent="0" rtl="0">
                        <a:buNone/>
                      </a:pPr>
                      <a:r>
                        <a:rPr lang="en-US" sz="1000" noProof="0">
                          <a:latin typeface="+mj-lt"/>
                        </a:rPr>
                        <a:t>8 Jan - Apr</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CE, PI ( Ops/SC), R&amp;D, M&amp;A, Vetor/AI​, CP, Paper &amp; Petro chemicals)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Campaign focus: priority trades Packaging World and Packaging Europe, LinkedIn, display</a:t>
                      </a:r>
                    </a:p>
                  </a:txBody>
                  <a:tcPr>
                    <a:solidFill>
                      <a:srgbClr val="FFFFFF"/>
                    </a:solidFill>
                  </a:tcPr>
                </a:tc>
                <a:extLst>
                  <a:ext uri="{0D108BD9-81ED-4DB2-BD59-A6C34878D82A}">
                    <a16:rowId xmlns:a16="http://schemas.microsoft.com/office/drawing/2014/main" val="1252433933"/>
                  </a:ext>
                </a:extLst>
              </a:tr>
              <a:tr h="332076">
                <a:tc>
                  <a:txBody>
                    <a:bodyPr vert="horz" wrap="square"/>
                    <a:lstStyle/>
                    <a:p>
                      <a:pPr marL="0" indent="0" algn="l">
                        <a:buFontTx/>
                        <a:buNone/>
                      </a:pPr>
                      <a:r>
                        <a:rPr lang="en-US" sz="1000" b="1" noProof="0">
                          <a:latin typeface="+mj-lt"/>
                        </a:rPr>
                        <a:t>M&amp;A/HLS</a:t>
                      </a:r>
                    </a:p>
                  </a:txBody>
                  <a:tcPr>
                    <a:solidFill>
                      <a:srgbClr val="FFFFFF"/>
                    </a:solidFill>
                  </a:tcPr>
                </a:tc>
                <a:tc>
                  <a:txBody>
                    <a:bodyPr vert="horz" wrap="square"/>
                    <a:lstStyle/>
                    <a:p>
                      <a:pPr marL="0" indent="0" algn="l">
                        <a:buFontTx/>
                        <a:buNone/>
                      </a:pPr>
                      <a:r>
                        <a:rPr lang="en-US" sz="1000" b="1" noProof="0">
                          <a:latin typeface="+mj-lt"/>
                        </a:rPr>
                        <a:t>Pharma &amp; MedTech chapters of M&amp;A Report</a:t>
                      </a:r>
                    </a:p>
                  </a:txBody>
                  <a:tcPr>
                    <a:solidFill>
                      <a:srgbClr val="FFFFFF"/>
                    </a:solidFill>
                  </a:tcPr>
                </a:tc>
                <a:tc>
                  <a:txBody>
                    <a:bodyPr vert="horz" wrap="square"/>
                    <a:lstStyle/>
                    <a:p>
                      <a:pPr marL="0" indent="0">
                        <a:buFontTx/>
                        <a:buNone/>
                      </a:pPr>
                      <a:r>
                        <a:rPr lang="en-US" sz="1000" noProof="0">
                          <a:latin typeface="+mj-lt"/>
                        </a:rPr>
                        <a:t>Report</a:t>
                      </a:r>
                    </a:p>
                  </a:txBody>
                  <a:tcPr>
                    <a:solidFill>
                      <a:srgbClr val="FFFFFF"/>
                    </a:solidFill>
                  </a:tcPr>
                </a:tc>
                <a:tc>
                  <a:txBody>
                    <a:bodyPr vert="horz" wrap="square"/>
                    <a:lstStyle/>
                    <a:p>
                      <a:pPr marL="0" indent="0">
                        <a:buNone/>
                      </a:pPr>
                      <a:r>
                        <a:rPr lang="en-US" sz="1000" noProof="0">
                          <a:latin typeface="+mj-lt"/>
                        </a:rPr>
                        <a:t>Jan 8</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HLS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extLst>
                  <a:ext uri="{0D108BD9-81ED-4DB2-BD59-A6C34878D82A}">
                    <a16:rowId xmlns:a16="http://schemas.microsoft.com/office/drawing/2014/main" val="132374132"/>
                  </a:ext>
                </a:extLst>
              </a:tr>
            </a:tbl>
          </a:graphicData>
        </a:graphic>
      </p:graphicFrame>
      <p:sp>
        <p:nvSpPr>
          <p:cNvPr id="18" name="Title 17">
            <a:extLst>
              <a:ext uri="{FF2B5EF4-FFF2-40B4-BE49-F238E27FC236}">
                <a16:creationId xmlns:a16="http://schemas.microsoft.com/office/drawing/2014/main" id="{7DF29133-249C-C08B-0581-11C6877EF5CA}"/>
              </a:ext>
            </a:extLst>
          </p:cNvPr>
          <p:cNvSpPr>
            <a:spLocks noGrp="1"/>
          </p:cNvSpPr>
          <p:nvPr>
            <p:ph type="title"/>
          </p:nvPr>
        </p:nvSpPr>
        <p:spPr/>
        <p:txBody>
          <a:bodyPr vert="horz"/>
          <a:lstStyle/>
          <a:p>
            <a:r>
              <a:rPr lang="en-US" noProof="0"/>
              <a:t>Q1 2026 major practice campaigns (1 of 4)</a:t>
            </a:r>
          </a:p>
        </p:txBody>
      </p:sp>
    </p:spTree>
    <p:custDataLst>
      <p:tags r:id="rId6"/>
    </p:custDataLst>
    <p:extLst>
      <p:ext uri="{BB962C8B-B14F-4D97-AF65-F5344CB8AC3E}">
        <p14:creationId xmlns:p14="http://schemas.microsoft.com/office/powerpoint/2010/main" val="2772566237"/>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D83B1743-FF9C-E931-26AC-BAAD2FFF8F49}"/>
            </a:ext>
          </a:extLst>
        </p:cNvPr>
        <p:cNvGrpSpPr/>
        <p:nvPr/>
      </p:nvGrpSpPr>
      <p:grpSpPr>
        <a:xfrm>
          <a:off x="0" y="0"/>
          <a:ext cx="0" cy="0"/>
        </a:xfrm>
      </p:grpSpPr>
      <p:graphicFrame>
        <p:nvGraphicFramePr>
          <p:cNvPr id="20" name="think-cell data - do not delete" hidden="1">
            <a:extLst>
              <a:ext uri="{FF2B5EF4-FFF2-40B4-BE49-F238E27FC236}">
                <a16:creationId xmlns:a16="http://schemas.microsoft.com/office/drawing/2014/main" id="{A01E1046-B712-D721-5263-F04EFD72A2C9}"/>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mc:Choice xmlns:v="urn:schemas-microsoft-com:vml" Requires="v">
                <p:oleObj spid="_x0000_s1040"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1" name="btfpColumnIndicatorGroup2">
            <a:extLst>
              <a:ext uri="{FF2B5EF4-FFF2-40B4-BE49-F238E27FC236}">
                <a16:creationId xmlns:a16="http://schemas.microsoft.com/office/drawing/2014/main" id="{3DA9743A-9CB1-22FB-9F82-423FDD715650}"/>
              </a:ext>
            </a:extLst>
          </p:cNvPr>
          <p:cNvGrpSpPr/>
          <p:nvPr/>
        </p:nvGrpSpPr>
        <p:grpSpPr>
          <a:xfrm>
            <a:off x="0" y="6926580"/>
            <a:ext cx="12192000" cy="137160"/>
            <a:chOff x="0" y="6926580"/>
            <a:chExt cx="12192000" cy="137160"/>
          </a:xfrm>
        </p:grpSpPr>
        <p:sp>
          <p:nvSpPr>
            <p:cNvPr id="9" name="btfpColumnGapBlocker361596">
              <a:extLst>
                <a:ext uri="{FF2B5EF4-FFF2-40B4-BE49-F238E27FC236}">
                  <a16:creationId xmlns:a16="http://schemas.microsoft.com/office/drawing/2014/main" id="{7F6F42F5-9B75-BC41-D985-AEC10217A2BE}"/>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7" name="btfpColumnGapBlocker936745">
              <a:extLst>
                <a:ext uri="{FF2B5EF4-FFF2-40B4-BE49-F238E27FC236}">
                  <a16:creationId xmlns:a16="http://schemas.microsoft.com/office/drawing/2014/main" id="{5615A69C-B11B-4828-2E8A-9952AA3E32D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5" name="btfpColumnIndicator938788">
              <a:extLst>
                <a:ext uri="{FF2B5EF4-FFF2-40B4-BE49-F238E27FC236}">
                  <a16:creationId xmlns:a16="http://schemas.microsoft.com/office/drawing/2014/main" id="{610B9137-886A-D697-5C2D-2C5F50FABDC1}"/>
                </a:ext>
              </a:extLst>
            </p:cNvPr>
            <p:cNvCxnSpPr/>
            <p:nvPr/>
          </p:nvCxnSpPr>
          <p:spPr bwMode="gray">
            <a:xfrm flipH="1"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174256">
              <a:extLst>
                <a:ext uri="{FF2B5EF4-FFF2-40B4-BE49-F238E27FC236}">
                  <a16:creationId xmlns:a16="http://schemas.microsoft.com/office/drawing/2014/main" id="{7E739090-8ECB-1AB4-C71C-FCF7AE3D8D33}"/>
                </a:ext>
              </a:extLst>
            </p:cNvPr>
            <p:cNvCxnSpPr/>
            <p:nvPr/>
          </p:nvCxnSpPr>
          <p:spPr bwMode="gray">
            <a:xfrm flipH="1"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0" name="btfpColumnIndicatorGroup1">
            <a:extLst>
              <a:ext uri="{FF2B5EF4-FFF2-40B4-BE49-F238E27FC236}">
                <a16:creationId xmlns:a16="http://schemas.microsoft.com/office/drawing/2014/main" id="{FD2FF6D4-C866-5202-7C1B-2FD9761C640B}"/>
              </a:ext>
            </a:extLst>
          </p:cNvPr>
          <p:cNvGrpSpPr/>
          <p:nvPr/>
        </p:nvGrpSpPr>
        <p:grpSpPr>
          <a:xfrm>
            <a:off x="0" y="-205740"/>
            <a:ext cx="12192000" cy="137160"/>
            <a:chOff x="0" y="-205740"/>
            <a:chExt cx="12192000" cy="137160"/>
          </a:xfrm>
        </p:grpSpPr>
        <p:sp>
          <p:nvSpPr>
            <p:cNvPr id="8" name="btfpColumnGapBlocker928271">
              <a:extLst>
                <a:ext uri="{FF2B5EF4-FFF2-40B4-BE49-F238E27FC236}">
                  <a16:creationId xmlns:a16="http://schemas.microsoft.com/office/drawing/2014/main" id="{2B42F14E-24B8-8910-E34C-AA47C157098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6" name="btfpColumnGapBlocker495938">
              <a:extLst>
                <a:ext uri="{FF2B5EF4-FFF2-40B4-BE49-F238E27FC236}">
                  <a16:creationId xmlns:a16="http://schemas.microsoft.com/office/drawing/2014/main" id="{2D42CC0C-B30E-57E8-EBE3-208E62F533C0}"/>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4" name="btfpColumnIndicator677607">
              <a:extLst>
                <a:ext uri="{FF2B5EF4-FFF2-40B4-BE49-F238E27FC236}">
                  <a16:creationId xmlns:a16="http://schemas.microsoft.com/office/drawing/2014/main" id="{4EFE7773-619A-7909-6B9B-EBB15FAA57FB}"/>
                </a:ext>
              </a:extLst>
            </p:cNvPr>
            <p:cNvCxnSpPr/>
            <p:nvPr/>
          </p:nvCxnSpPr>
          <p:spPr bwMode="gray">
            <a:xfrm flipH="1"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 name="btfpColumnIndicator615217">
              <a:extLst>
                <a:ext uri="{FF2B5EF4-FFF2-40B4-BE49-F238E27FC236}">
                  <a16:creationId xmlns:a16="http://schemas.microsoft.com/office/drawing/2014/main" id="{7F876577-C13A-A012-B731-BF60BED5E84D}"/>
                </a:ext>
              </a:extLst>
            </p:cNvPr>
            <p:cNvCxnSpPr/>
            <p:nvPr/>
          </p:nvCxnSpPr>
          <p:spPr bwMode="gray">
            <a:xfrm flipH="1"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12" name="btfpTable570053">
            <a:extLst>
              <a:ext uri="{FF2B5EF4-FFF2-40B4-BE49-F238E27FC236}">
                <a16:creationId xmlns:a16="http://schemas.microsoft.com/office/drawing/2014/main" id="{EE165971-33B5-396E-37A5-A8290402DAB2}"/>
              </a:ext>
            </a:extLst>
          </p:cNvPr>
          <p:cNvGraphicFramePr>
            <a:graphicFrameLocks noGrp="1"/>
          </p:cNvGraphicFramePr>
          <p:nvPr>
            <p:custDataLst>
              <p:tags r:id="rId5"/>
            </p:custDataLst>
            <p:extLst>
              <p:ext uri="{D42A27DB-BD31-4B8C-83A1-F6EECF244321}">
                <p14:modId xmlns:p14="http://schemas.microsoft.com/office/powerpoint/2010/main" val="3038436074"/>
              </p:ext>
            </p:extLst>
          </p:nvPr>
        </p:nvGraphicFramePr>
        <p:xfrm>
          <a:off x="330200" y="1270000"/>
          <a:ext cx="11531600" cy="5018221"/>
        </p:xfrm>
        <a:graphic>
          <a:graphicData uri="http://schemas.openxmlformats.org/drawingml/2006/table">
            <a:tbl>
              <a:tblPr firstRow="1" firstCol="1">
                <a:tableStyleId>{9D7B26C5-4107-4FEC-AEDC-1716B250A1EF}</a:tableStyleId>
              </a:tblPr>
              <a:tblGrid>
                <a:gridCol w="1233426">
                  <a:extLst>
                    <a:ext uri="{9D8B030D-6E8A-4147-A177-3AD203B41FA5}">
                      <a16:colId xmlns:a16="http://schemas.microsoft.com/office/drawing/2014/main" val="39789201"/>
                    </a:ext>
                  </a:extLst>
                </a:gridCol>
                <a:gridCol w="1837942">
                  <a:extLst>
                    <a:ext uri="{9D8B030D-6E8A-4147-A177-3AD203B41FA5}">
                      <a16:colId xmlns:a16="http://schemas.microsoft.com/office/drawing/2014/main" val="4033970088"/>
                    </a:ext>
                  </a:extLst>
                </a:gridCol>
                <a:gridCol w="1325880">
                  <a:extLst>
                    <a:ext uri="{9D8B030D-6E8A-4147-A177-3AD203B41FA5}">
                      <a16:colId xmlns:a16="http://schemas.microsoft.com/office/drawing/2014/main" val="2498033224"/>
                    </a:ext>
                  </a:extLst>
                </a:gridCol>
                <a:gridCol w="987552">
                  <a:extLst>
                    <a:ext uri="{9D8B030D-6E8A-4147-A177-3AD203B41FA5}">
                      <a16:colId xmlns:a16="http://schemas.microsoft.com/office/drawing/2014/main" val="2743447410"/>
                    </a:ext>
                  </a:extLst>
                </a:gridCol>
                <a:gridCol w="1472184">
                  <a:extLst>
                    <a:ext uri="{9D8B030D-6E8A-4147-A177-3AD203B41FA5}">
                      <a16:colId xmlns:a16="http://schemas.microsoft.com/office/drawing/2014/main" val="3890390591"/>
                    </a:ext>
                  </a:extLst>
                </a:gridCol>
                <a:gridCol w="1078992">
                  <a:extLst>
                    <a:ext uri="{9D8B030D-6E8A-4147-A177-3AD203B41FA5}">
                      <a16:colId xmlns:a16="http://schemas.microsoft.com/office/drawing/2014/main" val="346105412"/>
                    </a:ext>
                  </a:extLst>
                </a:gridCol>
                <a:gridCol w="3595624">
                  <a:extLst>
                    <a:ext uri="{9D8B030D-6E8A-4147-A177-3AD203B41FA5}">
                      <a16:colId xmlns:a16="http://schemas.microsoft.com/office/drawing/2014/main" val="2241445207"/>
                    </a:ext>
                  </a:extLst>
                </a:gridCol>
              </a:tblGrid>
              <a:tr h="533693">
                <a:tc>
                  <a:txBody>
                    <a:bodyPr vert="horz" wrap="square"/>
                    <a:lstStyle/>
                    <a:p>
                      <a:pPr marL="0" indent="0" rtl="0">
                        <a:spcBef>
                          <a:spcPct val="0"/>
                        </a:spcBef>
                        <a:buFontTx/>
                        <a:buNone/>
                      </a:pPr>
                      <a:r>
                        <a:rPr lang="en-US" sz="1200" noProof="0"/>
                        <a:t>Practice</a:t>
                      </a:r>
                    </a:p>
                  </a:txBody>
                  <a:tcPr/>
                </a:tc>
                <a:tc>
                  <a:txBody>
                    <a:bodyPr vert="horz" wrap="square"/>
                    <a:lstStyle/>
                    <a:p>
                      <a:pPr marL="0" indent="0" rtl="0">
                        <a:spcBef>
                          <a:spcPct val="0"/>
                        </a:spcBef>
                        <a:buFontTx/>
                        <a:buNone/>
                      </a:pPr>
                      <a:r>
                        <a:rPr lang="en-US" sz="1200" noProof="0"/>
                        <a:t>Campaign Name</a:t>
                      </a:r>
                    </a:p>
                  </a:txBody>
                  <a:tcPr/>
                </a:tc>
                <a:tc>
                  <a:txBody>
                    <a:bodyPr vert="horz" wrap="square"/>
                    <a:lstStyle/>
                    <a:p>
                      <a:pPr marL="0" indent="0" rtl="0">
                        <a:spcBef>
                          <a:spcPct val="0"/>
                        </a:spcBef>
                        <a:buFontTx/>
                        <a:buNone/>
                      </a:pPr>
                      <a:r>
                        <a:rPr lang="en-US" sz="1200" noProof="0"/>
                        <a:t>Campaign type </a:t>
                      </a:r>
                    </a:p>
                    <a:p>
                      <a:pPr marL="0" indent="0" rtl="0">
                        <a:spcBef>
                          <a:spcPct val="0"/>
                        </a:spcBef>
                        <a:buFontTx/>
                        <a:buNone/>
                      </a:pPr>
                      <a:r>
                        <a:rPr lang="en-US" sz="900" b="0" i="0" noProof="0"/>
                        <a:t>(using Campaign Framework)</a:t>
                      </a:r>
                      <a:endParaRPr lang="en-US" sz="1200" b="0" i="0" noProof="0"/>
                    </a:p>
                  </a:txBody>
                  <a:tcPr/>
                </a:tc>
                <a:tc>
                  <a:txBody>
                    <a:bodyPr vert="horz" wrap="square"/>
                    <a:lstStyle/>
                    <a:p>
                      <a:pPr marL="0" indent="0" rtl="0">
                        <a:spcBef>
                          <a:spcPct val="0"/>
                        </a:spcBef>
                        <a:buFontTx/>
                        <a:buNone/>
                      </a:pPr>
                      <a:r>
                        <a:rPr lang="en-US" sz="1200" noProof="0"/>
                        <a:t>Timing</a:t>
                      </a:r>
                      <a:br>
                        <a:rPr lang="en-US" sz="1400" noProof="0"/>
                      </a:br>
                      <a:r>
                        <a:rPr lang="en-US" sz="900" b="0" noProof="0"/>
                        <a:t>(or date if available)  </a:t>
                      </a:r>
                      <a:endParaRPr lang="en-US" sz="1400" b="0" noProof="0"/>
                    </a:p>
                  </a:txBody>
                  <a:tcPr/>
                </a:tc>
                <a:tc>
                  <a:txBody>
                    <a:bodyPr vert="horz" wrap="square"/>
                    <a:lstStyle/>
                    <a:p>
                      <a:pPr marL="0" indent="0" rtl="0">
                        <a:spcBef>
                          <a:spcPct val="0"/>
                        </a:spcBef>
                        <a:buFontTx/>
                        <a:buNone/>
                      </a:pPr>
                      <a:r>
                        <a:rPr lang="en-US" sz="1200" i="0" noProof="0"/>
                        <a:t>Relevance to/ involvement of other Practices</a:t>
                      </a:r>
                    </a:p>
                  </a:txBody>
                  <a:tcPr/>
                </a:tc>
                <a:tc>
                  <a:txBody>
                    <a:bodyPr vert="horz" wrap="square"/>
                    <a:lstStyle/>
                    <a:p>
                      <a:pPr marL="0" indent="0" rtl="0">
                        <a:spcBef>
                          <a:spcPct val="0"/>
                        </a:spcBef>
                        <a:buFontTx/>
                        <a:buNone/>
                      </a:pPr>
                      <a:r>
                        <a:rPr lang="en-US" sz="1200" i="0" noProof="0"/>
                        <a:t>Location </a:t>
                      </a:r>
                      <a:br>
                        <a:rPr lang="en-US" sz="1200" i="0" noProof="0"/>
                      </a:br>
                      <a:r>
                        <a:rPr lang="en-US" sz="900" b="0" i="0" noProof="0"/>
                        <a:t>(if any or specifying country data)</a:t>
                      </a:r>
                      <a:endParaRPr lang="en-US" sz="1200" i="0" noProof="0"/>
                    </a:p>
                  </a:txBody>
                  <a:tcPr/>
                </a:tc>
                <a:tc>
                  <a:txBody>
                    <a:bodyPr vert="horz" wrap="square"/>
                    <a:lstStyle/>
                    <a:p>
                      <a:pPr marL="0" indent="0" rtl="0">
                        <a:spcBef>
                          <a:spcPct val="0"/>
                        </a:spcBef>
                        <a:buFontTx/>
                        <a:buNone/>
                      </a:pPr>
                      <a:r>
                        <a:rPr lang="en-US" sz="1200" noProof="0"/>
                        <a:t>Other considerations</a:t>
                      </a:r>
                      <a:br>
                        <a:rPr lang="en-US" sz="1200" noProof="0"/>
                      </a:br>
                      <a:r>
                        <a:rPr lang="en-US" sz="900" b="0" i="0" noProof="0"/>
                        <a:t>(including distribution plans) </a:t>
                      </a:r>
                      <a:endParaRPr lang="en-US" sz="1400" b="0" i="0" noProof="0"/>
                    </a:p>
                  </a:txBody>
                  <a:tcPr/>
                </a:tc>
                <a:extLst>
                  <a:ext uri="{0D108BD9-81ED-4DB2-BD59-A6C34878D82A}">
                    <a16:rowId xmlns:a16="http://schemas.microsoft.com/office/drawing/2014/main" val="4104644541"/>
                  </a:ext>
                </a:extLst>
              </a:tr>
              <a:tr h="332076">
                <a:tc>
                  <a:txBody>
                    <a:bodyPr vert="horz" wrap="square"/>
                    <a:lstStyle/>
                    <a:p>
                      <a:pPr marL="0" indent="0" algn="l" rtl="0">
                        <a:buFontTx/>
                        <a:buNone/>
                      </a:pPr>
                      <a:r>
                        <a:rPr lang="en-US" sz="1000" noProof="0">
                          <a:latin typeface="+mj-lt"/>
                        </a:rPr>
                        <a:t>PE/HLS</a:t>
                      </a:r>
                    </a:p>
                  </a:txBody>
                  <a:tcPr>
                    <a:solidFill>
                      <a:srgbClr val="FFFFFF"/>
                    </a:solidFill>
                  </a:tcPr>
                </a:tc>
                <a:tc>
                  <a:txBody>
                    <a:bodyPr vert="horz" wrap="square"/>
                    <a:lstStyle/>
                    <a:p>
                      <a:pPr marL="0" indent="0" algn="l" defTabSz="711200" rtl="0" eaLnBrk="1" latinLnBrk="0" hangingPunct="1">
                        <a:spcBef>
                          <a:spcPts val="1200"/>
                        </a:spcBef>
                        <a:buFontTx/>
                        <a:buNone/>
                      </a:pPr>
                      <a:r>
                        <a:rPr lang="en-US" sz="1000" b="1" kern="1200" noProof="0">
                          <a:solidFill>
                            <a:schemeClr val="dk1"/>
                          </a:solidFill>
                          <a:latin typeface="+mj-lt"/>
                          <a:ea typeface="+mn-ea"/>
                          <a:cs typeface="+mn-cs"/>
                        </a:rPr>
                        <a:t>Global HCPE Report</a:t>
                      </a:r>
                    </a:p>
                  </a:txBody>
                  <a:tcPr marL="68580" marR="68580" marT="0" marB="0">
                    <a:solidFill>
                      <a:srgbClr val="BBCABA"/>
                    </a:solidFill>
                  </a:tcPr>
                </a:tc>
                <a:tc>
                  <a:txBody>
                    <a:bodyPr vert="horz" wrap="square"/>
                    <a:lstStyle/>
                    <a:p>
                      <a:pPr marL="0" indent="0" algn="l" defTabSz="711200" rtl="0" eaLnBrk="1" latinLnBrk="0" hangingPunct="1">
                        <a:spcBef>
                          <a:spcPts val="1200"/>
                        </a:spcBef>
                        <a:buFontTx/>
                        <a:buNone/>
                      </a:pPr>
                      <a:r>
                        <a:rPr lang="en-US" sz="1000" kern="1200" noProof="0">
                          <a:solidFill>
                            <a:schemeClr val="dk1"/>
                          </a:solidFill>
                          <a:latin typeface="+mj-lt"/>
                          <a:ea typeface="+mn-ea"/>
                          <a:cs typeface="+mn-cs"/>
                        </a:rPr>
                        <a:t>Report</a:t>
                      </a:r>
                    </a:p>
                  </a:txBody>
                  <a:tcPr marL="68580" marR="68580" marT="0" marB="0">
                    <a:noFill/>
                  </a:tcPr>
                </a:tc>
                <a:tc>
                  <a:txBody>
                    <a:bodyPr vert="horz" wrap="square"/>
                    <a:lstStyle/>
                    <a:p>
                      <a:pPr marL="0" indent="0" algn="l" defTabSz="711200" rtl="0" eaLnBrk="1" latinLnBrk="0" hangingPunct="1">
                        <a:spcBef>
                          <a:spcPts val="1200"/>
                        </a:spcBef>
                        <a:buFontTx/>
                        <a:buNone/>
                      </a:pPr>
                      <a:r>
                        <a:rPr lang="en-US" sz="1000" kern="1200" noProof="0">
                          <a:solidFill>
                            <a:schemeClr val="dk1"/>
                          </a:solidFill>
                          <a:latin typeface="+mj-lt"/>
                          <a:ea typeface="+mn-ea"/>
                          <a:cs typeface="+mn-cs"/>
                        </a:rPr>
                        <a:t>Jan 9</a:t>
                      </a:r>
                    </a:p>
                  </a:txBody>
                  <a:tcPr marL="68580" marR="68580" marT="0" marB="0">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HLS</a:t>
                      </a:r>
                    </a:p>
                  </a:txBody>
                  <a:tcPr marL="68580" marR="68580" marT="0" marB="0">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kern="1200" noProof="0">
                          <a:solidFill>
                            <a:schemeClr val="dk1"/>
                          </a:solidFill>
                          <a:latin typeface="+mj-lt"/>
                          <a:ea typeface="+mn-ea"/>
                          <a:cs typeface="+mn-cs"/>
                        </a:rPr>
                        <a:t>Global</a:t>
                      </a:r>
                    </a:p>
                  </a:txBody>
                  <a:tcPr marL="68580" marR="68580" marT="0" marB="0">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 relevance – multiple PE/HLS Bain-hosted side events. Launch timed w/ JP Morgan HC Conference</a:t>
                      </a:r>
                    </a:p>
                  </a:txBody>
                  <a:tcPr>
                    <a:solidFill>
                      <a:srgbClr val="FFFFFF"/>
                    </a:solidFill>
                  </a:tcPr>
                </a:tc>
                <a:extLst>
                  <a:ext uri="{0D108BD9-81ED-4DB2-BD59-A6C34878D82A}">
                    <a16:rowId xmlns:a16="http://schemas.microsoft.com/office/drawing/2014/main" val="3425265040"/>
                  </a:ext>
                </a:extLst>
              </a:tr>
              <a:tr h="332076">
                <a:tc>
                  <a:txBody>
                    <a:bodyPr vert="horz" wrap="square"/>
                    <a:lstStyle/>
                    <a:p>
                      <a:pPr marL="0" indent="0" algn="l" rtl="0">
                        <a:buFontTx/>
                        <a:buNone/>
                      </a:pPr>
                      <a:r>
                        <a:rPr lang="en-US" sz="1000" noProof="0">
                          <a:latin typeface="+mj-lt"/>
                        </a:rPr>
                        <a:t>Retail</a:t>
                      </a:r>
                    </a:p>
                  </a:txBody>
                  <a:tcPr>
                    <a:solidFill>
                      <a:srgbClr val="FFFFFF"/>
                    </a:solidFill>
                  </a:tcPr>
                </a:tc>
                <a:tc>
                  <a:txBody>
                    <a:bodyPr vert="horz" wrap="square"/>
                    <a:lstStyle/>
                    <a:p>
                      <a:pPr marL="0" indent="0" algn="l">
                        <a:buFontTx/>
                        <a:buNone/>
                      </a:pPr>
                      <a:r>
                        <a:rPr lang="en-US" sz="1000" b="1" noProof="0">
                          <a:latin typeface="+mj-lt"/>
                        </a:rPr>
                        <a:t>NRF Big Show</a:t>
                      </a:r>
                    </a:p>
                  </a:txBody>
                  <a:tcPr>
                    <a:solidFill>
                      <a:srgbClr val="FFFFFF"/>
                    </a:solidFill>
                  </a:tcPr>
                </a:tc>
                <a:tc>
                  <a:txBody>
                    <a:bodyPr vert="horz" wrap="square"/>
                    <a:lstStyle/>
                    <a:p>
                      <a:pPr marL="0" indent="0">
                        <a:buFontTx/>
                        <a:buNone/>
                      </a:pPr>
                      <a:r>
                        <a:rPr lang="en-US" sz="1000" noProof="0">
                          <a:latin typeface="+mj-lt"/>
                        </a:rPr>
                        <a:t>Conference </a:t>
                      </a:r>
                    </a:p>
                  </a:txBody>
                  <a:tcPr>
                    <a:solidFill>
                      <a:srgbClr val="FFFFFF"/>
                    </a:solidFill>
                  </a:tcPr>
                </a:tc>
                <a:tc>
                  <a:txBody>
                    <a:bodyPr vert="horz" wrap="square"/>
                    <a:lstStyle/>
                    <a:p>
                      <a:pPr marL="0" indent="0">
                        <a:buNone/>
                      </a:pPr>
                      <a:r>
                        <a:rPr lang="en-US" sz="1000" noProof="0">
                          <a:latin typeface="+mj-lt"/>
                        </a:rPr>
                        <a:t>Jan 10-13</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Retail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Amers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extLst>
                  <a:ext uri="{0D108BD9-81ED-4DB2-BD59-A6C34878D82A}">
                    <a16:rowId xmlns:a16="http://schemas.microsoft.com/office/drawing/2014/main" val="1835570829"/>
                  </a:ext>
                </a:extLst>
              </a:tr>
              <a:tr h="332076">
                <a:tc>
                  <a:txBody>
                    <a:bodyPr vert="horz" wrap="square"/>
                    <a:lstStyle/>
                    <a:p>
                      <a:pPr marL="0" indent="0" algn="l" rtl="0">
                        <a:buFontTx/>
                        <a:buNone/>
                      </a:pPr>
                      <a:r>
                        <a:rPr lang="en-US" sz="1000" noProof="0">
                          <a:latin typeface="+mj-lt"/>
                        </a:rPr>
                        <a:t>HLS</a:t>
                      </a:r>
                    </a:p>
                  </a:txBody>
                  <a:tcPr>
                    <a:solidFill>
                      <a:srgbClr val="FFFFFF"/>
                    </a:solidFill>
                  </a:tcPr>
                </a:tc>
                <a:tc>
                  <a:txBody>
                    <a:bodyPr vert="horz" wrap="square"/>
                    <a:lstStyle/>
                    <a:p>
                      <a:pPr marL="0" indent="0" algn="l" defTabSz="711200" rtl="0" eaLnBrk="1" latinLnBrk="0" hangingPunct="1">
                        <a:spcBef>
                          <a:spcPts val="1200"/>
                        </a:spcBef>
                        <a:buFontTx/>
                        <a:buNone/>
                      </a:pPr>
                      <a:r>
                        <a:rPr lang="en-US" sz="1000" b="1" kern="1200" noProof="0">
                          <a:solidFill>
                            <a:schemeClr val="dk1"/>
                          </a:solidFill>
                          <a:latin typeface="+mj-lt"/>
                          <a:ea typeface="+mn-ea"/>
                          <a:cs typeface="+mn-cs"/>
                        </a:rPr>
                        <a:t>JPM Healthcare Conference reception</a:t>
                      </a:r>
                    </a:p>
                  </a:txBody>
                  <a:tcPr marL="68580" marR="68580" marT="0" marB="0">
                    <a:solidFill>
                      <a:srgbClr val="FFFFFF"/>
                    </a:solidFill>
                  </a:tcPr>
                </a:tc>
                <a:tc>
                  <a:txBody>
                    <a:bodyPr vert="horz" wrap="square"/>
                    <a:lstStyle/>
                    <a:p>
                      <a:pPr marL="0" indent="0" algn="l" defTabSz="711200" rtl="0" eaLnBrk="1" latinLnBrk="0" hangingPunct="1">
                        <a:spcBef>
                          <a:spcPts val="1200"/>
                        </a:spcBef>
                        <a:buFontTx/>
                        <a:buNone/>
                      </a:pPr>
                      <a:r>
                        <a:rPr lang="en-US" sz="1000" kern="1200" noProof="0">
                          <a:solidFill>
                            <a:schemeClr val="dk1"/>
                          </a:solidFill>
                          <a:latin typeface="+mj-lt"/>
                          <a:ea typeface="+mn-ea"/>
                          <a:cs typeface="+mn-cs"/>
                        </a:rPr>
                        <a:t>Reception</a:t>
                      </a:r>
                    </a:p>
                  </a:txBody>
                  <a:tcPr marL="68580" marR="68580" marT="0" marB="0">
                    <a:solidFill>
                      <a:srgbClr val="FFFFFF"/>
                    </a:solidFill>
                  </a:tcPr>
                </a:tc>
                <a:tc>
                  <a:txBody>
                    <a:bodyPr vert="horz" wrap="square"/>
                    <a:lstStyle/>
                    <a:p>
                      <a:pPr marL="0" indent="0" algn="l" defTabSz="711200" rtl="0" eaLnBrk="1" latinLnBrk="0" hangingPunct="1">
                        <a:spcBef>
                          <a:spcPts val="1200"/>
                        </a:spcBef>
                        <a:buFontTx/>
                        <a:buNone/>
                      </a:pPr>
                      <a:r>
                        <a:rPr lang="en-US" sz="1000" kern="1200" noProof="0">
                          <a:solidFill>
                            <a:schemeClr val="dk1"/>
                          </a:solidFill>
                          <a:latin typeface="+mj-lt"/>
                          <a:ea typeface="+mn-ea"/>
                          <a:cs typeface="+mn-cs"/>
                        </a:rPr>
                        <a:t>Jan 13</a:t>
                      </a:r>
                    </a:p>
                  </a:txBody>
                  <a:tcPr marL="68580" marR="68580" marT="0" marB="0">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Vector, TMT PEG</a:t>
                      </a:r>
                    </a:p>
                  </a:txBody>
                  <a:tcPr marL="68580" marR="68580" marT="0" marB="0">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San Francisco</a:t>
                      </a:r>
                    </a:p>
                  </a:txBody>
                  <a:tcPr marL="68580" marR="68580" marT="0" marB="0">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extLst>
                  <a:ext uri="{0D108BD9-81ED-4DB2-BD59-A6C34878D82A}">
                    <a16:rowId xmlns:a16="http://schemas.microsoft.com/office/drawing/2014/main" val="3600759233"/>
                  </a:ext>
                </a:extLst>
              </a:tr>
              <a:tr h="332076">
                <a:tc>
                  <a:txBody>
                    <a:bodyPr vert="horz" wrap="square"/>
                    <a:lstStyle/>
                    <a:p>
                      <a:pPr marL="0" indent="0" algn="l">
                        <a:buFontTx/>
                        <a:buNone/>
                      </a:pPr>
                      <a:r>
                        <a:rPr lang="en-US" sz="1000" b="1" noProof="0">
                          <a:latin typeface="+mj-lt"/>
                        </a:rPr>
                        <a:t>HLS</a:t>
                      </a:r>
                    </a:p>
                  </a:txBody>
                  <a:tcPr>
                    <a:solidFill>
                      <a:srgbClr val="FFFFFF"/>
                    </a:solidFill>
                  </a:tcPr>
                </a:tc>
                <a:tc>
                  <a:txBody>
                    <a:bodyPr vert="horz" wrap="square"/>
                    <a:lstStyle/>
                    <a:p>
                      <a:pPr marL="0" indent="0" algn="l">
                        <a:buFontTx/>
                        <a:buNone/>
                      </a:pPr>
                      <a:r>
                        <a:rPr lang="en-US" sz="1000" b="1" noProof="0">
                          <a:latin typeface="+mj-lt"/>
                        </a:rPr>
                        <a:t>Healthcare AI Forum w/ Palantir</a:t>
                      </a:r>
                    </a:p>
                  </a:txBody>
                  <a:tcPr>
                    <a:solidFill>
                      <a:srgbClr val="FFFFFF"/>
                    </a:solidFill>
                  </a:tcPr>
                </a:tc>
                <a:tc>
                  <a:txBody>
                    <a:bodyPr vert="horz" wrap="square"/>
                    <a:lstStyle/>
                    <a:p>
                      <a:pPr marL="0" indent="0">
                        <a:buFontTx/>
                        <a:buNone/>
                      </a:pPr>
                      <a:r>
                        <a:rPr lang="en-US" sz="1000" noProof="0">
                          <a:latin typeface="+mj-lt"/>
                        </a:rPr>
                        <a:t>Event</a:t>
                      </a:r>
                    </a:p>
                  </a:txBody>
                  <a:tcPr>
                    <a:solidFill>
                      <a:srgbClr val="FFFFFF"/>
                    </a:solidFill>
                  </a:tcPr>
                </a:tc>
                <a:tc>
                  <a:txBody>
                    <a:bodyPr vert="horz" wrap="square"/>
                    <a:lstStyle/>
                    <a:p>
                      <a:pPr marL="0" indent="0">
                        <a:buNone/>
                      </a:pPr>
                      <a:r>
                        <a:rPr lang="en-US" sz="1000" noProof="0">
                          <a:latin typeface="+mj-lt"/>
                        </a:rPr>
                        <a:t>Jan 13</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Vector, PEG</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San Francisco</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extLst>
                  <a:ext uri="{0D108BD9-81ED-4DB2-BD59-A6C34878D82A}">
                    <a16:rowId xmlns:a16="http://schemas.microsoft.com/office/drawing/2014/main" val="132374132"/>
                  </a:ext>
                </a:extLst>
              </a:tr>
              <a:tr h="332076">
                <a:tc>
                  <a:txBody>
                    <a:bodyPr vert="horz" wrap="square"/>
                    <a:lstStyle/>
                    <a:p>
                      <a:pPr marL="0" indent="0" algn="l">
                        <a:buFontTx/>
                        <a:buNone/>
                      </a:pPr>
                      <a:r>
                        <a:rPr lang="en-US" sz="1000" b="1" noProof="0">
                          <a:latin typeface="+mj-lt"/>
                        </a:rPr>
                        <a:t>HLS</a:t>
                      </a:r>
                    </a:p>
                  </a:txBody>
                  <a:tcPr>
                    <a:solidFill>
                      <a:srgbClr val="FFFFFF"/>
                    </a:solidFill>
                  </a:tcPr>
                </a:tc>
                <a:tc>
                  <a:txBody>
                    <a:bodyPr vert="horz" wrap="square"/>
                    <a:lstStyle/>
                    <a:p>
                      <a:pPr marL="0" indent="0" algn="l">
                        <a:buFontTx/>
                        <a:buNone/>
                      </a:pPr>
                      <a:r>
                        <a:rPr lang="en-US" sz="1000" b="1" noProof="0">
                          <a:latin typeface="+mj-lt"/>
                        </a:rPr>
                        <a:t>Healthcare M&amp;A Event</a:t>
                      </a:r>
                    </a:p>
                  </a:txBody>
                  <a:tcPr>
                    <a:solidFill>
                      <a:srgbClr val="FFFFFF"/>
                    </a:solidFill>
                  </a:tcPr>
                </a:tc>
                <a:tc>
                  <a:txBody>
                    <a:bodyPr vert="horz" wrap="square"/>
                    <a:lstStyle/>
                    <a:p>
                      <a:pPr marL="0" indent="0">
                        <a:buFontTx/>
                        <a:buNone/>
                      </a:pPr>
                      <a:r>
                        <a:rPr lang="en-US" sz="1000" noProof="0">
                          <a:latin typeface="+mj-lt"/>
                        </a:rPr>
                        <a:t>Event</a:t>
                      </a:r>
                    </a:p>
                  </a:txBody>
                  <a:tcPr>
                    <a:solidFill>
                      <a:srgbClr val="FFFFFF"/>
                    </a:solidFill>
                  </a:tcPr>
                </a:tc>
                <a:tc>
                  <a:txBody>
                    <a:bodyPr vert="horz" wrap="square"/>
                    <a:lstStyle/>
                    <a:p>
                      <a:pPr marL="0" indent="0">
                        <a:buNone/>
                      </a:pPr>
                      <a:r>
                        <a:rPr lang="en-US" sz="1000" noProof="0">
                          <a:latin typeface="+mj-lt"/>
                        </a:rPr>
                        <a:t>Jan 14</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M&amp;A, PEG</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San Francisco</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extLst>
                  <a:ext uri="{0D108BD9-81ED-4DB2-BD59-A6C34878D82A}">
                    <a16:rowId xmlns:a16="http://schemas.microsoft.com/office/drawing/2014/main" val="2424266484"/>
                  </a:ext>
                </a:extLst>
              </a:tr>
              <a:tr h="332076">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FS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STRATOS at Davos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In person Event</a:t>
                      </a:r>
                    </a:p>
                  </a:txBody>
                  <a:tcPr>
                    <a:solidFill>
                      <a:srgbClr val="FFFFFF"/>
                    </a:solidFill>
                  </a:tcPr>
                </a:tc>
                <a:tc>
                  <a:txBody>
                    <a:bodyPr vert="horz" wrap="square"/>
                    <a:lstStyle/>
                    <a:p>
                      <a:pPr marL="0" indent="0" rtl="0">
                        <a:buNone/>
                      </a:pPr>
                      <a:r>
                        <a:rPr lang="en-US" sz="1000" noProof="0">
                          <a:latin typeface="+mj-lt"/>
                        </a:rPr>
                        <a:t>Jan 20</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Vector, DEI</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Davos (CH)</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Stratos members + key prospects. Obj: networking</a:t>
                      </a:r>
                    </a:p>
                  </a:txBody>
                  <a:tcPr>
                    <a:solidFill>
                      <a:srgbClr val="FFFFFF"/>
                    </a:solidFill>
                  </a:tcPr>
                </a:tc>
                <a:extLst>
                  <a:ext uri="{0D108BD9-81ED-4DB2-BD59-A6C34878D82A}">
                    <a16:rowId xmlns:a16="http://schemas.microsoft.com/office/drawing/2014/main" val="597785697"/>
                  </a:ext>
                </a:extLst>
              </a:tr>
              <a:tr h="260917">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Retail</a:t>
                      </a:r>
                    </a:p>
                  </a:txBody>
                  <a:tcPr>
                    <a:solidFill>
                      <a:srgbClr val="FFFFFF"/>
                    </a:solidFill>
                  </a:tcPr>
                </a:tc>
                <a:tc>
                  <a:txBody>
                    <a:bodyPr vert="horz" wrap="square"/>
                    <a:lstStyle/>
                    <a:p>
                      <a:pPr marL="0" indent="0" algn="l">
                        <a:buFontTx/>
                        <a:buNone/>
                      </a:pPr>
                      <a:r>
                        <a:rPr lang="en-US" sz="1000" b="1" noProof="0">
                          <a:latin typeface="+mj-lt"/>
                        </a:rPr>
                        <a:t>Retail Holiday Newsletter</a:t>
                      </a:r>
                    </a:p>
                  </a:txBody>
                  <a:tcPr>
                    <a:solidFill>
                      <a:srgbClr val="BBCABA"/>
                    </a:solidFill>
                  </a:tcPr>
                </a:tc>
                <a:tc>
                  <a:txBody>
                    <a:bodyPr vert="horz" wrap="square"/>
                    <a:lstStyle/>
                    <a:p>
                      <a:pPr marL="0" indent="0">
                        <a:buFontTx/>
                        <a:buNone/>
                      </a:pPr>
                      <a:r>
                        <a:rPr lang="en-US" sz="1000" noProof="0">
                          <a:latin typeface="+mj-lt"/>
                        </a:rPr>
                        <a:t>series of Briefs</a:t>
                      </a:r>
                    </a:p>
                  </a:txBody>
                  <a:tcPr>
                    <a:solidFill>
                      <a:srgbClr val="FFFFFF"/>
                    </a:solidFill>
                  </a:tcPr>
                </a:tc>
                <a:tc>
                  <a:txBody>
                    <a:bodyPr vert="horz" wrap="square"/>
                    <a:lstStyle/>
                    <a:p>
                      <a:pPr marL="0" indent="0">
                        <a:buNone/>
                      </a:pPr>
                      <a:r>
                        <a:rPr lang="en-US" sz="1000" noProof="0">
                          <a:latin typeface="+mj-lt"/>
                        </a:rPr>
                        <a:t>Jan 22</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Retail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 </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Last of 5 in RHN series. </a:t>
                      </a:r>
                    </a:p>
                  </a:txBody>
                  <a:tcPr>
                    <a:solidFill>
                      <a:srgbClr val="FFFFFF"/>
                    </a:solidFill>
                  </a:tcPr>
                </a:tc>
                <a:extLst>
                  <a:ext uri="{0D108BD9-81ED-4DB2-BD59-A6C34878D82A}">
                    <a16:rowId xmlns:a16="http://schemas.microsoft.com/office/drawing/2014/main" val="437873142"/>
                  </a:ext>
                </a:extLst>
              </a:tr>
              <a:tr h="332076">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M&amp;A</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M&amp;A report 2026 + Global webinar and related M&amp;A in person events</a:t>
                      </a:r>
                    </a:p>
                  </a:txBody>
                  <a:tcPr>
                    <a:solidFill>
                      <a:srgbClr val="BBCABA"/>
                    </a:solidFill>
                  </a:tcPr>
                </a:tc>
                <a:tc>
                  <a:txBody>
                    <a:bodyPr vert="horz" wrap="square"/>
                    <a:lstStyle/>
                    <a:p>
                      <a:pPr marL="0" indent="0" rtl="0">
                        <a:buFontTx/>
                        <a:buNone/>
                      </a:pPr>
                      <a:r>
                        <a:rPr lang="en-US" sz="1000" noProof="0">
                          <a:latin typeface="+mj-lt"/>
                        </a:rPr>
                        <a:t>Report Campaign – 5 M&amp;A capability chapters – 14 industry chapters</a:t>
                      </a:r>
                    </a:p>
                  </a:txBody>
                  <a:tcPr>
                    <a:solidFill>
                      <a:srgbClr val="FFFFFF"/>
                    </a:solidFill>
                  </a:tcPr>
                </a:tc>
                <a:tc>
                  <a:txBody>
                    <a:bodyPr vert="horz" wrap="square"/>
                    <a:lstStyle/>
                    <a:p>
                      <a:pPr marL="0" indent="0" rtl="0">
                        <a:buNone/>
                      </a:pPr>
                      <a:r>
                        <a:rPr lang="en-US" sz="1000" noProof="0">
                          <a:latin typeface="+mj-lt"/>
                        </a:rPr>
                        <a:t>Jan 27</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All industries – All geos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Country data pack provided on Dec 2 for the launch of the Look back chapter. Updates are TBC</a:t>
                      </a:r>
                    </a:p>
                  </a:txBody>
                  <a:tcPr>
                    <a:solidFill>
                      <a:srgbClr val="FFFFFF"/>
                    </a:solidFill>
                  </a:tcPr>
                </a:tc>
                <a:extLst>
                  <a:ext uri="{0D108BD9-81ED-4DB2-BD59-A6C34878D82A}">
                    <a16:rowId xmlns:a16="http://schemas.microsoft.com/office/drawing/2014/main" val="430016791"/>
                  </a:ext>
                </a:extLst>
              </a:tr>
              <a:tr h="332076">
                <a:tc>
                  <a:txBody>
                    <a:bodyPr vert="horz" wrap="square"/>
                    <a:lstStyle/>
                    <a:p>
                      <a:pPr marL="0" indent="0" algn="l" rtl="0">
                        <a:buFontTx/>
                        <a:buNone/>
                      </a:pPr>
                      <a:r>
                        <a:rPr lang="en-US" sz="1000" b="1" noProof="0">
                          <a:latin typeface="+mj-lt"/>
                        </a:rPr>
                        <a:t>AMS</a:t>
                      </a:r>
                    </a:p>
                  </a:txBody>
                  <a:tcPr>
                    <a:solidFill>
                      <a:srgbClr val="FFFFFF"/>
                    </a:solidFill>
                  </a:tcPr>
                </a:tc>
                <a:tc>
                  <a:txBody>
                    <a:bodyPr vert="horz" wrap="square"/>
                    <a:lstStyle/>
                    <a:p>
                      <a:pPr marL="0" indent="0" algn="l" rtl="0">
                        <a:buFontTx/>
                        <a:buNone/>
                      </a:pPr>
                      <a:r>
                        <a:rPr lang="en-US" sz="1000" b="1" noProof="0">
                          <a:latin typeface="+mj-lt"/>
                        </a:rPr>
                        <a:t>M&amp;A Report with 5 chapters</a:t>
                      </a:r>
                    </a:p>
                  </a:txBody>
                  <a:tcPr>
                    <a:noFill/>
                  </a:tcPr>
                </a:tc>
                <a:tc>
                  <a:txBody>
                    <a:bodyPr vert="horz" wrap="square"/>
                    <a:lstStyle/>
                    <a:p>
                      <a:pPr marL="0" indent="0" rtl="0">
                        <a:buFontTx/>
                        <a:buNone/>
                      </a:pPr>
                      <a:r>
                        <a:rPr lang="en-US" sz="1000" noProof="0">
                          <a:latin typeface="+mj-lt"/>
                        </a:rPr>
                        <a:t>Report campaign</a:t>
                      </a:r>
                    </a:p>
                  </a:txBody>
                  <a:tcPr>
                    <a:solidFill>
                      <a:srgbClr val="FFFFFF"/>
                    </a:solidFill>
                  </a:tcPr>
                </a:tc>
                <a:tc>
                  <a:txBody>
                    <a:bodyPr vert="horz" wrap="square"/>
                    <a:lstStyle/>
                    <a:p>
                      <a:pPr marL="0" indent="0" rtl="0">
                        <a:buNone/>
                      </a:pPr>
                      <a:r>
                        <a:rPr lang="en-US" sz="1000" noProof="0">
                          <a:latin typeface="+mj-lt"/>
                        </a:rPr>
                        <a:t>Jan 27</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A&amp;D, AUT, Mac/Met, Bld. Prod., P&amp;P</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Allocate budget to amplify the M&amp;A report in AMS</a:t>
                      </a:r>
                    </a:p>
                  </a:txBody>
                  <a:tcPr>
                    <a:solidFill>
                      <a:srgbClr val="FFFFFF"/>
                    </a:solidFill>
                  </a:tcPr>
                </a:tc>
                <a:extLst>
                  <a:ext uri="{0D108BD9-81ED-4DB2-BD59-A6C34878D82A}">
                    <a16:rowId xmlns:a16="http://schemas.microsoft.com/office/drawing/2014/main" val="2237304512"/>
                  </a:ext>
                </a:extLst>
              </a:tr>
              <a:tr h="332075">
                <a:tc>
                  <a:txBody>
                    <a:bodyPr vert="horz" wrap="square"/>
                    <a:lstStyle/>
                    <a:p>
                      <a:pPr marL="0" marR="0" lvl="0" indent="0" algn="l" rtl="0">
                        <a:lnSpc>
                          <a:spcPct val="100000"/>
                        </a:lnSpc>
                        <a:spcBef>
                          <a:spcPts val="1200"/>
                        </a:spcBef>
                        <a:spcAft>
                          <a:spcPct val="0"/>
                        </a:spcAft>
                        <a:buClrTx/>
                        <a:buSzTx/>
                        <a:buFontTx/>
                        <a:buNone/>
                      </a:pPr>
                      <a:r>
                        <a:rPr lang="en-US" sz="1000" b="1" i="0" u="none" strike="noStrike" kern="1200" cap="none" spc="0" normalizeH="0" baseline="0" noProof="0">
                          <a:ln>
                            <a:noFill/>
                          </a:ln>
                          <a:solidFill>
                            <a:srgbClr val="000000"/>
                          </a:solidFill>
                          <a:effectLst/>
                          <a:uLnTx/>
                          <a:uFillTx/>
                          <a:latin typeface="+mj-lt"/>
                          <a:ea typeface="+mn-ea"/>
                          <a:cs typeface="+mn-cs"/>
                        </a:rPr>
                        <a:t>P&amp;O</a:t>
                      </a:r>
                      <a:endParaRPr lang="en-US" noProof="0"/>
                    </a:p>
                  </a:txBody>
                  <a:tcPr>
                    <a:solidFill>
                      <a:srgbClr val="FFFFFF"/>
                    </a:solidFill>
                  </a:tcPr>
                </a:tc>
                <a:tc>
                  <a:txBody>
                    <a:bodyPr vert="horz" wrap="square"/>
                    <a:lstStyle/>
                    <a:p>
                      <a:pPr marL="0" marR="0" lvl="0" indent="0" algn="l" rtl="0">
                        <a:lnSpc>
                          <a:spcPct val="100000"/>
                        </a:lnSpc>
                        <a:spcBef>
                          <a:spcPts val="1200"/>
                        </a:spcBef>
                        <a:spcAft>
                          <a:spcPct val="0"/>
                        </a:spcAft>
                        <a:buClrTx/>
                        <a:buSzTx/>
                        <a:buFontTx/>
                        <a:buNone/>
                      </a:pPr>
                      <a:r>
                        <a:rPr lang="en-US" sz="1000" b="1" i="0" u="none" strike="noStrike" kern="1200" cap="none" spc="0" normalizeH="0" baseline="0" noProof="0">
                          <a:ln>
                            <a:noFill/>
                          </a:ln>
                          <a:solidFill>
                            <a:srgbClr val="000000"/>
                          </a:solidFill>
                          <a:effectLst/>
                          <a:uLnTx/>
                          <a:uFillTx/>
                          <a:latin typeface="+mj-lt"/>
                          <a:ea typeface="+mn-ea"/>
                          <a:cs typeface="+mn-cs"/>
                        </a:rPr>
                        <a:t>Live the Model campaign (Behavior change Solution)</a:t>
                      </a:r>
                      <a:endParaRPr lang="en-US" noProof="0"/>
                    </a:p>
                  </a:txBody>
                  <a:tcPr>
                    <a:solidFill>
                      <a:srgbClr val="FFFFFF"/>
                    </a:solidFill>
                  </a:tcPr>
                </a:tc>
                <a:tc>
                  <a:txBody>
                    <a:bodyPr vert="horz" wrap="square"/>
                    <a:lstStyle/>
                    <a:p>
                      <a:pPr marL="0" marR="0" lvl="0" indent="0" algn="l" rtl="0">
                        <a:lnSpc>
                          <a:spcPct val="100000"/>
                        </a:lnSpc>
                        <a:spcBef>
                          <a:spcPts val="1200"/>
                        </a:spcBef>
                        <a:spcAft>
                          <a:spcPct val="0"/>
                        </a:spcAft>
                        <a:buClrTx/>
                        <a:buSzTx/>
                        <a:buFontTx/>
                        <a:buNone/>
                      </a:pPr>
                      <a:r>
                        <a:rPr lang="en-US" sz="1000" noProof="0">
                          <a:latin typeface="+mj-lt"/>
                        </a:rPr>
                        <a:t>Brief and snapchart based on survey</a:t>
                      </a:r>
                      <a:endParaRPr lang="en-US" noProof="0"/>
                    </a:p>
                  </a:txBody>
                  <a:tcPr>
                    <a:solidFill>
                      <a:srgbClr val="FFFFFF"/>
                    </a:solidFill>
                  </a:tcPr>
                </a:tc>
                <a:tc>
                  <a:txBody>
                    <a:bodyPr vert="horz" wrap="square"/>
                    <a:lstStyle/>
                    <a:p>
                      <a:pPr marL="0" lvl="0" indent="0" rtl="0">
                        <a:buNone/>
                      </a:pPr>
                      <a:r>
                        <a:rPr lang="en-US" sz="1000" noProof="0">
                          <a:latin typeface="+mj-lt"/>
                        </a:rPr>
                        <a:t>Jan 29</a:t>
                      </a:r>
                      <a:endParaRPr lang="en-US" noProof="0"/>
                    </a:p>
                  </a:txBody>
                  <a:tcPr>
                    <a:solidFill>
                      <a:srgbClr val="FFFFFF"/>
                    </a:solidFill>
                  </a:tcPr>
                </a:tc>
                <a:tc>
                  <a:txBody>
                    <a:bodyPr vert="horz" wrap="square"/>
                    <a:lstStyle/>
                    <a:p>
                      <a:pPr marL="0" marR="0" lvl="0" indent="0" algn="l" rtl="0">
                        <a:lnSpc>
                          <a:spcPct val="100000"/>
                        </a:lnSpc>
                        <a:spcBef>
                          <a:spcPts val="1200"/>
                        </a:spcBef>
                        <a:spcAft>
                          <a:spcPct val="0"/>
                        </a:spcAft>
                        <a:buClrTx/>
                        <a:buSzTx/>
                        <a:buFontTx/>
                        <a:buNone/>
                      </a:pPr>
                      <a:r>
                        <a:rPr lang="en-US" sz="1000" noProof="0">
                          <a:latin typeface="+mj-lt"/>
                        </a:rPr>
                        <a:t>All industries - </a:t>
                      </a:r>
                      <a:endParaRPr lang="en-US" noProof="0"/>
                    </a:p>
                  </a:txBody>
                  <a:tcPr>
                    <a:solidFill>
                      <a:srgbClr val="FFFFFF"/>
                    </a:solidFill>
                  </a:tcPr>
                </a:tc>
                <a:tc>
                  <a:txBody>
                    <a:bodyPr vert="horz" wrap="square"/>
                    <a:lstStyle/>
                    <a:p>
                      <a:pPr marL="0" marR="0" lvl="0" indent="0" algn="l" rtl="0">
                        <a:lnSpc>
                          <a:spcPct val="100000"/>
                        </a:lnSpc>
                        <a:spcBef>
                          <a:spcPts val="1200"/>
                        </a:spcBef>
                        <a:spcAft>
                          <a:spcPct val="0"/>
                        </a:spcAft>
                        <a:buClrTx/>
                        <a:buSzTx/>
                        <a:buFontTx/>
                        <a:buNone/>
                      </a:pPr>
                      <a:r>
                        <a:rPr lang="en-US" sz="1000" noProof="0">
                          <a:latin typeface="+mj-lt"/>
                        </a:rPr>
                        <a:t>Survey in the US, UK, DE, FR, IN, JP, IT</a:t>
                      </a:r>
                      <a:endParaRPr lang="en-US" noProof="0"/>
                    </a:p>
                  </a:txBody>
                  <a:tcPr>
                    <a:solidFill>
                      <a:srgbClr val="FFFFFF"/>
                    </a:solidFill>
                  </a:tcPr>
                </a:tc>
                <a:tc>
                  <a:txBody>
                    <a:bodyPr vert="horz" wrap="square"/>
                    <a:lstStyle/>
                    <a:p>
                      <a:pPr marL="0" marR="0" lvl="0" indent="0" algn="l" rtl="0">
                        <a:lnSpc>
                          <a:spcPct val="100000"/>
                        </a:lnSpc>
                        <a:spcBef>
                          <a:spcPts val="1200"/>
                        </a:spcBef>
                        <a:spcAft>
                          <a:spcPct val="0"/>
                        </a:spcAft>
                        <a:buClrTx/>
                        <a:buSzTx/>
                        <a:buFontTx/>
                        <a:buNone/>
                      </a:pPr>
                      <a:r>
                        <a:rPr lang="en-US" sz="1000" noProof="0">
                          <a:latin typeface="+mj-lt"/>
                        </a:rPr>
                        <a:t>N for each country varies between 75- 130. </a:t>
                      </a:r>
                      <a:br>
                        <a:rPr lang="en-US" sz="1000" noProof="0">
                          <a:latin typeface="+mj-lt"/>
                        </a:rPr>
                      </a:br>
                      <a:r>
                        <a:rPr lang="en-US" sz="1000" noProof="0">
                          <a:latin typeface="+mj-lt"/>
                        </a:rPr>
                        <a:t>Theme: Organizations are undergoing frequent major changes, yet few capture the full benefits Leaders believe the purpose and scope are clear, but employees report far lower understanding and motivation.</a:t>
                      </a:r>
                      <a:endParaRPr lang="en-US" noProof="0"/>
                    </a:p>
                  </a:txBody>
                  <a:tcPr>
                    <a:solidFill>
                      <a:srgbClr val="FFFFFF"/>
                    </a:solidFill>
                  </a:tcPr>
                </a:tc>
                <a:extLst>
                  <a:ext uri="{0D108BD9-81ED-4DB2-BD59-A6C34878D82A}">
                    <a16:rowId xmlns:a16="http://schemas.microsoft.com/office/drawing/2014/main" val="1305893236"/>
                  </a:ext>
                </a:extLst>
              </a:tr>
            </a:tbl>
          </a:graphicData>
        </a:graphic>
      </p:graphicFrame>
      <p:sp>
        <p:nvSpPr>
          <p:cNvPr id="18" name="Title 17">
            <a:extLst>
              <a:ext uri="{FF2B5EF4-FFF2-40B4-BE49-F238E27FC236}">
                <a16:creationId xmlns:a16="http://schemas.microsoft.com/office/drawing/2014/main" id="{38F98B86-7EBE-4EBE-8EAF-C7D559962978}"/>
              </a:ext>
            </a:extLst>
          </p:cNvPr>
          <p:cNvSpPr>
            <a:spLocks noGrp="1"/>
          </p:cNvSpPr>
          <p:nvPr>
            <p:ph type="title"/>
          </p:nvPr>
        </p:nvSpPr>
        <p:spPr/>
        <p:txBody>
          <a:bodyPr vert="horz"/>
          <a:lstStyle/>
          <a:p>
            <a:r>
              <a:rPr lang="en-US" noProof="0"/>
              <a:t>Q1 2026 major practice campaigns (2 of 4)</a:t>
            </a:r>
          </a:p>
        </p:txBody>
      </p:sp>
    </p:spTree>
    <p:custDataLst>
      <p:tags r:id="rId6"/>
    </p:custDataLst>
    <p:extLst>
      <p:ext uri="{BB962C8B-B14F-4D97-AF65-F5344CB8AC3E}">
        <p14:creationId xmlns:p14="http://schemas.microsoft.com/office/powerpoint/2010/main" val="643780540"/>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09F99AAB-F23E-BA2D-01E3-A472D8929544}"/>
            </a:ext>
          </a:extLst>
        </p:cNvPr>
        <p:cNvGrpSpPr/>
        <p:nvPr/>
      </p:nvGrpSpPr>
      <p:grpSpPr>
        <a:xfrm>
          <a:off x="0" y="0"/>
          <a:ext cx="0" cy="0"/>
        </a:xfrm>
      </p:grpSpPr>
      <p:graphicFrame>
        <p:nvGraphicFramePr>
          <p:cNvPr id="20" name="think-cell data - do not delete" hidden="1">
            <a:extLst>
              <a:ext uri="{FF2B5EF4-FFF2-40B4-BE49-F238E27FC236}">
                <a16:creationId xmlns:a16="http://schemas.microsoft.com/office/drawing/2014/main" id="{9409BF82-7245-2D23-BD14-F093487B798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mc:Choice xmlns:v="urn:schemas-microsoft-com:vml" Requires="v">
                <p:oleObj spid="_x0000_s104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1" name="btfpColumnIndicatorGroup2">
            <a:extLst>
              <a:ext uri="{FF2B5EF4-FFF2-40B4-BE49-F238E27FC236}">
                <a16:creationId xmlns:a16="http://schemas.microsoft.com/office/drawing/2014/main" id="{8B3050EB-8E50-A781-BCB9-3A7566225697}"/>
              </a:ext>
            </a:extLst>
          </p:cNvPr>
          <p:cNvGrpSpPr/>
          <p:nvPr/>
        </p:nvGrpSpPr>
        <p:grpSpPr>
          <a:xfrm>
            <a:off x="0" y="6926580"/>
            <a:ext cx="12192000" cy="137160"/>
            <a:chOff x="0" y="6926580"/>
            <a:chExt cx="12192000" cy="137160"/>
          </a:xfrm>
        </p:grpSpPr>
        <p:sp>
          <p:nvSpPr>
            <p:cNvPr id="9" name="btfpColumnGapBlocker361596">
              <a:extLst>
                <a:ext uri="{FF2B5EF4-FFF2-40B4-BE49-F238E27FC236}">
                  <a16:creationId xmlns:a16="http://schemas.microsoft.com/office/drawing/2014/main" id="{C85D0F18-C187-4EA8-372C-D80C012F34C0}"/>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7" name="btfpColumnGapBlocker936745">
              <a:extLst>
                <a:ext uri="{FF2B5EF4-FFF2-40B4-BE49-F238E27FC236}">
                  <a16:creationId xmlns:a16="http://schemas.microsoft.com/office/drawing/2014/main" id="{CB71CC3D-83A4-607E-DA71-AAEB32A765E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5" name="btfpColumnIndicator938788">
              <a:extLst>
                <a:ext uri="{FF2B5EF4-FFF2-40B4-BE49-F238E27FC236}">
                  <a16:creationId xmlns:a16="http://schemas.microsoft.com/office/drawing/2014/main" id="{55770F23-8D73-2880-C90A-7D1DE47A1B0F}"/>
                </a:ext>
              </a:extLst>
            </p:cNvPr>
            <p:cNvCxnSpPr/>
            <p:nvPr/>
          </p:nvCxnSpPr>
          <p:spPr bwMode="gray">
            <a:xfrm flipH="1"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174256">
              <a:extLst>
                <a:ext uri="{FF2B5EF4-FFF2-40B4-BE49-F238E27FC236}">
                  <a16:creationId xmlns:a16="http://schemas.microsoft.com/office/drawing/2014/main" id="{1167E1E7-C8EC-17F5-3444-DF7D0E64B691}"/>
                </a:ext>
              </a:extLst>
            </p:cNvPr>
            <p:cNvCxnSpPr/>
            <p:nvPr/>
          </p:nvCxnSpPr>
          <p:spPr bwMode="gray">
            <a:xfrm flipH="1"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0" name="btfpColumnIndicatorGroup1">
            <a:extLst>
              <a:ext uri="{FF2B5EF4-FFF2-40B4-BE49-F238E27FC236}">
                <a16:creationId xmlns:a16="http://schemas.microsoft.com/office/drawing/2014/main" id="{E09F2B2F-DC16-1053-00DB-4376FDF60B83}"/>
              </a:ext>
            </a:extLst>
          </p:cNvPr>
          <p:cNvGrpSpPr/>
          <p:nvPr/>
        </p:nvGrpSpPr>
        <p:grpSpPr>
          <a:xfrm>
            <a:off x="0" y="-205740"/>
            <a:ext cx="12192000" cy="137160"/>
            <a:chOff x="0" y="-205740"/>
            <a:chExt cx="12192000" cy="137160"/>
          </a:xfrm>
        </p:grpSpPr>
        <p:sp>
          <p:nvSpPr>
            <p:cNvPr id="8" name="btfpColumnGapBlocker928271">
              <a:extLst>
                <a:ext uri="{FF2B5EF4-FFF2-40B4-BE49-F238E27FC236}">
                  <a16:creationId xmlns:a16="http://schemas.microsoft.com/office/drawing/2014/main" id="{1AE1B107-F106-7806-AE7B-16F7D0F5C9D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6" name="btfpColumnGapBlocker495938">
              <a:extLst>
                <a:ext uri="{FF2B5EF4-FFF2-40B4-BE49-F238E27FC236}">
                  <a16:creationId xmlns:a16="http://schemas.microsoft.com/office/drawing/2014/main" id="{65C563EA-3EAF-81BA-56AB-64CC9A51EC0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4" name="btfpColumnIndicator677607">
              <a:extLst>
                <a:ext uri="{FF2B5EF4-FFF2-40B4-BE49-F238E27FC236}">
                  <a16:creationId xmlns:a16="http://schemas.microsoft.com/office/drawing/2014/main" id="{30D0DB51-33B5-8838-A684-D2C94B11502E}"/>
                </a:ext>
              </a:extLst>
            </p:cNvPr>
            <p:cNvCxnSpPr/>
            <p:nvPr/>
          </p:nvCxnSpPr>
          <p:spPr bwMode="gray">
            <a:xfrm flipH="1"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 name="btfpColumnIndicator615217">
              <a:extLst>
                <a:ext uri="{FF2B5EF4-FFF2-40B4-BE49-F238E27FC236}">
                  <a16:creationId xmlns:a16="http://schemas.microsoft.com/office/drawing/2014/main" id="{32ED1A7F-245E-206A-7F5C-819C3CB32127}"/>
                </a:ext>
              </a:extLst>
            </p:cNvPr>
            <p:cNvCxnSpPr/>
            <p:nvPr/>
          </p:nvCxnSpPr>
          <p:spPr bwMode="gray">
            <a:xfrm flipH="1"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12" name="btfpTable570053">
            <a:extLst>
              <a:ext uri="{FF2B5EF4-FFF2-40B4-BE49-F238E27FC236}">
                <a16:creationId xmlns:a16="http://schemas.microsoft.com/office/drawing/2014/main" id="{2813B1F0-630F-7E60-021C-360EDE3797E8}"/>
              </a:ext>
            </a:extLst>
          </p:cNvPr>
          <p:cNvGraphicFramePr>
            <a:graphicFrameLocks noGrp="1"/>
          </p:cNvGraphicFramePr>
          <p:nvPr>
            <p:custDataLst>
              <p:tags r:id="rId5"/>
            </p:custDataLst>
            <p:extLst>
              <p:ext uri="{D42A27DB-BD31-4B8C-83A1-F6EECF244321}">
                <p14:modId xmlns:p14="http://schemas.microsoft.com/office/powerpoint/2010/main" val="1329042437"/>
              </p:ext>
            </p:extLst>
          </p:nvPr>
        </p:nvGraphicFramePr>
        <p:xfrm>
          <a:off x="330200" y="1270000"/>
          <a:ext cx="11531600" cy="5373312"/>
        </p:xfrm>
        <a:graphic>
          <a:graphicData uri="http://schemas.openxmlformats.org/drawingml/2006/table">
            <a:tbl>
              <a:tblPr firstRow="1" firstCol="1">
                <a:tableStyleId>{9D7B26C5-4107-4FEC-AEDC-1716B250A1EF}</a:tableStyleId>
              </a:tblPr>
              <a:tblGrid>
                <a:gridCol w="1233426">
                  <a:extLst>
                    <a:ext uri="{9D8B030D-6E8A-4147-A177-3AD203B41FA5}">
                      <a16:colId xmlns:a16="http://schemas.microsoft.com/office/drawing/2014/main" val="39789201"/>
                    </a:ext>
                  </a:extLst>
                </a:gridCol>
                <a:gridCol w="1837942">
                  <a:extLst>
                    <a:ext uri="{9D8B030D-6E8A-4147-A177-3AD203B41FA5}">
                      <a16:colId xmlns:a16="http://schemas.microsoft.com/office/drawing/2014/main" val="4033970088"/>
                    </a:ext>
                  </a:extLst>
                </a:gridCol>
                <a:gridCol w="1325880">
                  <a:extLst>
                    <a:ext uri="{9D8B030D-6E8A-4147-A177-3AD203B41FA5}">
                      <a16:colId xmlns:a16="http://schemas.microsoft.com/office/drawing/2014/main" val="2498033224"/>
                    </a:ext>
                  </a:extLst>
                </a:gridCol>
                <a:gridCol w="987552">
                  <a:extLst>
                    <a:ext uri="{9D8B030D-6E8A-4147-A177-3AD203B41FA5}">
                      <a16:colId xmlns:a16="http://schemas.microsoft.com/office/drawing/2014/main" val="2743447410"/>
                    </a:ext>
                  </a:extLst>
                </a:gridCol>
                <a:gridCol w="1472184">
                  <a:extLst>
                    <a:ext uri="{9D8B030D-6E8A-4147-A177-3AD203B41FA5}">
                      <a16:colId xmlns:a16="http://schemas.microsoft.com/office/drawing/2014/main" val="3890390591"/>
                    </a:ext>
                  </a:extLst>
                </a:gridCol>
                <a:gridCol w="1078992">
                  <a:extLst>
                    <a:ext uri="{9D8B030D-6E8A-4147-A177-3AD203B41FA5}">
                      <a16:colId xmlns:a16="http://schemas.microsoft.com/office/drawing/2014/main" val="346105412"/>
                    </a:ext>
                  </a:extLst>
                </a:gridCol>
                <a:gridCol w="3595624">
                  <a:extLst>
                    <a:ext uri="{9D8B030D-6E8A-4147-A177-3AD203B41FA5}">
                      <a16:colId xmlns:a16="http://schemas.microsoft.com/office/drawing/2014/main" val="2241445207"/>
                    </a:ext>
                  </a:extLst>
                </a:gridCol>
              </a:tblGrid>
              <a:tr h="533693">
                <a:tc>
                  <a:txBody>
                    <a:bodyPr vert="horz" wrap="square"/>
                    <a:lstStyle/>
                    <a:p>
                      <a:pPr marL="0" indent="0" rtl="0">
                        <a:spcBef>
                          <a:spcPct val="0"/>
                        </a:spcBef>
                        <a:buFontTx/>
                        <a:buNone/>
                      </a:pPr>
                      <a:r>
                        <a:rPr lang="en-US" sz="1200" noProof="0"/>
                        <a:t>Practice</a:t>
                      </a:r>
                    </a:p>
                  </a:txBody>
                  <a:tcPr/>
                </a:tc>
                <a:tc>
                  <a:txBody>
                    <a:bodyPr vert="horz" wrap="square"/>
                    <a:lstStyle/>
                    <a:p>
                      <a:pPr marL="0" indent="0" rtl="0">
                        <a:spcBef>
                          <a:spcPct val="0"/>
                        </a:spcBef>
                        <a:buFontTx/>
                        <a:buNone/>
                      </a:pPr>
                      <a:r>
                        <a:rPr lang="en-US" sz="1200" noProof="0"/>
                        <a:t>Campaign Name</a:t>
                      </a:r>
                    </a:p>
                  </a:txBody>
                  <a:tcPr/>
                </a:tc>
                <a:tc>
                  <a:txBody>
                    <a:bodyPr vert="horz" wrap="square"/>
                    <a:lstStyle/>
                    <a:p>
                      <a:pPr marL="0" indent="0" rtl="0">
                        <a:spcBef>
                          <a:spcPct val="0"/>
                        </a:spcBef>
                        <a:buFontTx/>
                        <a:buNone/>
                      </a:pPr>
                      <a:r>
                        <a:rPr lang="en-US" sz="1200" noProof="0"/>
                        <a:t>Campaign type </a:t>
                      </a:r>
                    </a:p>
                    <a:p>
                      <a:pPr marL="0" indent="0" rtl="0">
                        <a:spcBef>
                          <a:spcPct val="0"/>
                        </a:spcBef>
                        <a:buFontTx/>
                        <a:buNone/>
                      </a:pPr>
                      <a:r>
                        <a:rPr lang="en-US" sz="900" b="0" i="0" noProof="0"/>
                        <a:t>(using Campaign Framework)</a:t>
                      </a:r>
                      <a:endParaRPr lang="en-US" sz="1200" b="0" i="0" noProof="0"/>
                    </a:p>
                  </a:txBody>
                  <a:tcPr/>
                </a:tc>
                <a:tc>
                  <a:txBody>
                    <a:bodyPr vert="horz" wrap="square"/>
                    <a:lstStyle/>
                    <a:p>
                      <a:pPr marL="0" indent="0" rtl="0">
                        <a:spcBef>
                          <a:spcPct val="0"/>
                        </a:spcBef>
                        <a:buFontTx/>
                        <a:buNone/>
                      </a:pPr>
                      <a:r>
                        <a:rPr lang="en-US" sz="1200" noProof="0"/>
                        <a:t>Timing</a:t>
                      </a:r>
                      <a:br>
                        <a:rPr lang="en-US" sz="1400" noProof="0"/>
                      </a:br>
                      <a:r>
                        <a:rPr lang="en-US" sz="900" b="0" noProof="0"/>
                        <a:t>(or date if available)  </a:t>
                      </a:r>
                      <a:endParaRPr lang="en-US" sz="1400" b="0" noProof="0"/>
                    </a:p>
                  </a:txBody>
                  <a:tcPr/>
                </a:tc>
                <a:tc>
                  <a:txBody>
                    <a:bodyPr vert="horz" wrap="square"/>
                    <a:lstStyle/>
                    <a:p>
                      <a:pPr marL="0" indent="0" rtl="0">
                        <a:spcBef>
                          <a:spcPct val="0"/>
                        </a:spcBef>
                        <a:buFontTx/>
                        <a:buNone/>
                      </a:pPr>
                      <a:r>
                        <a:rPr lang="en-US" sz="1200" i="0" noProof="0"/>
                        <a:t>Relevance to/ involvement of other Practices</a:t>
                      </a:r>
                    </a:p>
                  </a:txBody>
                  <a:tcPr/>
                </a:tc>
                <a:tc>
                  <a:txBody>
                    <a:bodyPr vert="horz" wrap="square"/>
                    <a:lstStyle/>
                    <a:p>
                      <a:pPr marL="0" indent="0" rtl="0">
                        <a:spcBef>
                          <a:spcPct val="0"/>
                        </a:spcBef>
                        <a:buFontTx/>
                        <a:buNone/>
                      </a:pPr>
                      <a:r>
                        <a:rPr lang="en-US" sz="1200" i="0" noProof="0"/>
                        <a:t>Location </a:t>
                      </a:r>
                      <a:br>
                        <a:rPr lang="en-US" sz="1200" i="0" noProof="0"/>
                      </a:br>
                      <a:r>
                        <a:rPr lang="en-US" sz="900" b="0" i="0" noProof="0"/>
                        <a:t>(if any or specifying country data)</a:t>
                      </a:r>
                      <a:endParaRPr lang="en-US" sz="1200" i="0" noProof="0"/>
                    </a:p>
                  </a:txBody>
                  <a:tcPr/>
                </a:tc>
                <a:tc>
                  <a:txBody>
                    <a:bodyPr vert="horz" wrap="square"/>
                    <a:lstStyle/>
                    <a:p>
                      <a:pPr marL="0" indent="0" rtl="0">
                        <a:spcBef>
                          <a:spcPct val="0"/>
                        </a:spcBef>
                        <a:buFontTx/>
                        <a:buNone/>
                      </a:pPr>
                      <a:r>
                        <a:rPr lang="en-US" sz="1200" noProof="0"/>
                        <a:t>Other considerations</a:t>
                      </a:r>
                      <a:br>
                        <a:rPr lang="en-US" sz="1200" noProof="0"/>
                      </a:br>
                      <a:r>
                        <a:rPr lang="en-US" sz="900" b="0" i="0" noProof="0"/>
                        <a:t>(including distribution plans) </a:t>
                      </a:r>
                      <a:endParaRPr lang="en-US" sz="1400" b="0" i="0" noProof="0"/>
                    </a:p>
                  </a:txBody>
                  <a:tcPr/>
                </a:tc>
                <a:extLst>
                  <a:ext uri="{0D108BD9-81ED-4DB2-BD59-A6C34878D82A}">
                    <a16:rowId xmlns:a16="http://schemas.microsoft.com/office/drawing/2014/main" val="4104644541"/>
                  </a:ext>
                </a:extLst>
              </a:tr>
              <a:tr h="332076">
                <a:tc>
                  <a:txBody>
                    <a:bodyPr vert="horz" wrap="square"/>
                    <a:lstStyle/>
                    <a:p>
                      <a:pPr marL="0" indent="0" algn="l">
                        <a:buFontTx/>
                        <a:buNone/>
                      </a:pPr>
                      <a:r>
                        <a:rPr lang="en-US" sz="1000" b="1" noProof="0">
                          <a:latin typeface="+mj-lt"/>
                        </a:rPr>
                        <a:t>Strategy &amp; Transformation</a:t>
                      </a:r>
                    </a:p>
                  </a:txBody>
                  <a:tcPr>
                    <a:solidFill>
                      <a:srgbClr val="FFFFFF"/>
                    </a:solidFill>
                  </a:tcPr>
                </a:tc>
                <a:tc>
                  <a:txBody>
                    <a:bodyPr vert="horz" wrap="square"/>
                    <a:lstStyle/>
                    <a:p>
                      <a:pPr marL="0" indent="0" algn="l">
                        <a:buFontTx/>
                        <a:buNone/>
                      </a:pPr>
                      <a:r>
                        <a:rPr lang="en-US" sz="1000" b="1" noProof="0">
                          <a:latin typeface="+mj-lt"/>
                        </a:rPr>
                        <a:t>Voice of CEO survey</a:t>
                      </a:r>
                    </a:p>
                  </a:txBody>
                  <a:tcPr>
                    <a:solidFill>
                      <a:srgbClr val="FFFFFF"/>
                    </a:solidFill>
                  </a:tcPr>
                </a:tc>
                <a:tc>
                  <a:txBody>
                    <a:bodyPr vert="horz" wrap="square"/>
                    <a:lstStyle/>
                    <a:p>
                      <a:pPr marL="0" indent="0">
                        <a:buFontTx/>
                        <a:buNone/>
                      </a:pPr>
                      <a:r>
                        <a:rPr lang="en-US" sz="1000" noProof="0">
                          <a:latin typeface="+mj-lt"/>
                        </a:rPr>
                        <a:t>Strategic POV</a:t>
                      </a:r>
                    </a:p>
                  </a:txBody>
                  <a:tcPr>
                    <a:solidFill>
                      <a:srgbClr val="FFFFFF"/>
                    </a:solidFill>
                  </a:tcPr>
                </a:tc>
                <a:tc>
                  <a:txBody>
                    <a:bodyPr vert="horz" wrap="square"/>
                    <a:lstStyle/>
                    <a:p>
                      <a:pPr marL="0" indent="0">
                        <a:buNone/>
                      </a:pPr>
                      <a:r>
                        <a:rPr lang="en-US" sz="1000" noProof="0">
                          <a:latin typeface="+mj-lt"/>
                        </a:rPr>
                        <a:t>Feb (tbc)</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 Regional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Target N=150 with 45% N Amer, 35% EMEA, 20% APAC and 15% Tech, 20% CP, 20% AMS</a:t>
                      </a:r>
                    </a:p>
                  </a:txBody>
                  <a:tcPr>
                    <a:solidFill>
                      <a:srgbClr val="FFFFFF"/>
                    </a:solidFill>
                  </a:tcPr>
                </a:tc>
                <a:extLst>
                  <a:ext uri="{0D108BD9-81ED-4DB2-BD59-A6C34878D82A}">
                    <a16:rowId xmlns:a16="http://schemas.microsoft.com/office/drawing/2014/main" val="2792317305"/>
                  </a:ext>
                </a:extLst>
              </a:tr>
              <a:tr h="332076">
                <a:tc>
                  <a:txBody>
                    <a:bodyPr vert="horz" wrap="square"/>
                    <a:lstStyle/>
                    <a:p>
                      <a:pPr marL="0" indent="0" algn="l">
                        <a:buFontTx/>
                        <a:buNone/>
                      </a:pPr>
                      <a:r>
                        <a:rPr lang="en-US" sz="1000" b="1" noProof="0">
                          <a:latin typeface="+mj-lt"/>
                        </a:rPr>
                        <a:t>FS</a:t>
                      </a:r>
                    </a:p>
                  </a:txBody>
                  <a:tcPr>
                    <a:solidFill>
                      <a:srgbClr val="FFFFFF"/>
                    </a:solidFill>
                  </a:tcPr>
                </a:tc>
                <a:tc>
                  <a:txBody>
                    <a:bodyPr vert="horz" wrap="square"/>
                    <a:lstStyle/>
                    <a:p>
                      <a:pPr marL="0" indent="0" algn="l">
                        <a:buFontTx/>
                        <a:buNone/>
                      </a:pPr>
                      <a:r>
                        <a:rPr lang="en-US" sz="1000" b="1" noProof="0">
                          <a:latin typeface="+mj-lt"/>
                        </a:rPr>
                        <a:t>Banking chapter in the M&amp;A global report </a:t>
                      </a:r>
                    </a:p>
                  </a:txBody>
                  <a:tcPr>
                    <a:solidFill>
                      <a:srgbClr val="FFFFFF"/>
                    </a:solidFill>
                  </a:tcPr>
                </a:tc>
                <a:tc>
                  <a:txBody>
                    <a:bodyPr vert="horz" wrap="square"/>
                    <a:lstStyle/>
                    <a:p>
                      <a:pPr marL="0" indent="0">
                        <a:buFontTx/>
                        <a:buNone/>
                      </a:pPr>
                      <a:r>
                        <a:rPr lang="en-US" sz="1000" noProof="0">
                          <a:latin typeface="+mj-lt"/>
                        </a:rPr>
                        <a:t>(Brief) Report </a:t>
                      </a:r>
                    </a:p>
                  </a:txBody>
                  <a:tcPr>
                    <a:solidFill>
                      <a:srgbClr val="FFFFFF"/>
                    </a:solidFill>
                  </a:tcPr>
                </a:tc>
                <a:tc>
                  <a:txBody>
                    <a:bodyPr vert="horz" wrap="square"/>
                    <a:lstStyle/>
                    <a:p>
                      <a:pPr marL="0" indent="0">
                        <a:buNone/>
                      </a:pPr>
                      <a:r>
                        <a:rPr lang="en-US" sz="1000" noProof="0">
                          <a:latin typeface="+mj-lt"/>
                        </a:rPr>
                        <a:t>Feb </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M&amp;A</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Distributed through a multi-channel campaign</a:t>
                      </a:r>
                    </a:p>
                  </a:txBody>
                  <a:tcPr>
                    <a:solidFill>
                      <a:srgbClr val="FFFFFF"/>
                    </a:solidFill>
                  </a:tcPr>
                </a:tc>
                <a:extLst>
                  <a:ext uri="{0D108BD9-81ED-4DB2-BD59-A6C34878D82A}">
                    <a16:rowId xmlns:a16="http://schemas.microsoft.com/office/drawing/2014/main" val="2424266484"/>
                  </a:ext>
                </a:extLst>
              </a:tr>
              <a:tr h="332076">
                <a:tc>
                  <a:txBody>
                    <a:bodyPr vert="horz" wrap="square"/>
                    <a:lstStyle/>
                    <a:p>
                      <a:pPr marL="0" indent="0" algn="l" rtl="0">
                        <a:buFontTx/>
                        <a:buNone/>
                      </a:pPr>
                      <a:r>
                        <a:rPr lang="en-US" sz="1000" noProof="0">
                          <a:latin typeface="+mj-lt"/>
                        </a:rPr>
                        <a:t>CP/RT + Sus.</a:t>
                      </a:r>
                    </a:p>
                  </a:txBody>
                  <a:tcPr>
                    <a:solidFill>
                      <a:srgbClr val="FFFFFF"/>
                    </a:solidFill>
                  </a:tcPr>
                </a:tc>
                <a:tc>
                  <a:txBody>
                    <a:bodyPr vert="horz" wrap="square"/>
                    <a:lstStyle/>
                    <a:p>
                      <a:pPr marL="0" indent="0" algn="l">
                        <a:buFontTx/>
                        <a:buNone/>
                      </a:pPr>
                      <a:r>
                        <a:rPr lang="en-US" sz="1000" b="1" noProof="0">
                          <a:latin typeface="+mj-lt"/>
                        </a:rPr>
                        <a:t>CGF Sustainable Retail Summit</a:t>
                      </a:r>
                    </a:p>
                  </a:txBody>
                  <a:tcPr>
                    <a:solidFill>
                      <a:srgbClr val="FFFFFF"/>
                    </a:solidFill>
                  </a:tcPr>
                </a:tc>
                <a:tc>
                  <a:txBody>
                    <a:bodyPr vert="horz" wrap="square"/>
                    <a:lstStyle/>
                    <a:p>
                      <a:pPr marL="0" indent="0">
                        <a:buFontTx/>
                        <a:buNone/>
                      </a:pPr>
                      <a:r>
                        <a:rPr lang="en-US" sz="1000" noProof="0">
                          <a:latin typeface="+mj-lt"/>
                        </a:rPr>
                        <a:t>Conference</a:t>
                      </a:r>
                    </a:p>
                  </a:txBody>
                  <a:tcPr>
                    <a:solidFill>
                      <a:srgbClr val="FFFFFF"/>
                    </a:solidFill>
                  </a:tcPr>
                </a:tc>
                <a:tc>
                  <a:txBody>
                    <a:bodyPr vert="horz" wrap="square"/>
                    <a:lstStyle/>
                    <a:p>
                      <a:pPr marL="0" indent="0">
                        <a:buNone/>
                      </a:pPr>
                      <a:r>
                        <a:rPr lang="en-US" sz="1000" noProof="0">
                          <a:latin typeface="+mj-lt"/>
                        </a:rPr>
                        <a:t>Feb. 2-5</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Interlocked with CP/RT</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Paris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extLst>
                  <a:ext uri="{0D108BD9-81ED-4DB2-BD59-A6C34878D82A}">
                    <a16:rowId xmlns:a16="http://schemas.microsoft.com/office/drawing/2014/main" val="2863180757"/>
                  </a:ext>
                </a:extLst>
              </a:tr>
              <a:tr h="332076">
                <a:tc>
                  <a:txBody>
                    <a:bodyPr vert="horz" wrap="square"/>
                    <a:lstStyle/>
                    <a:p>
                      <a:pPr marL="0" indent="0" algn="l">
                        <a:buFontTx/>
                        <a:buNone/>
                      </a:pPr>
                      <a:r>
                        <a:rPr lang="en-US" sz="1000" b="1" noProof="0">
                          <a:latin typeface="+mj-lt"/>
                        </a:rPr>
                        <a:t>PE</a:t>
                      </a:r>
                    </a:p>
                  </a:txBody>
                  <a:tcPr>
                    <a:solidFill>
                      <a:srgbClr val="FFFFFF"/>
                    </a:solidFill>
                  </a:tcPr>
                </a:tc>
                <a:tc>
                  <a:txBody>
                    <a:bodyPr vert="horz" wrap="square"/>
                    <a:lstStyle/>
                    <a:p>
                      <a:pPr marL="0" indent="0" algn="l">
                        <a:buFontTx/>
                        <a:buNone/>
                      </a:pPr>
                      <a:r>
                        <a:rPr lang="en-US" sz="1000" b="1" noProof="0">
                          <a:latin typeface="+mj-lt"/>
                        </a:rPr>
                        <a:t>Global PE Report</a:t>
                      </a:r>
                    </a:p>
                  </a:txBody>
                  <a:tcPr>
                    <a:solidFill>
                      <a:srgbClr val="BBCABA"/>
                    </a:solidFill>
                  </a:tcPr>
                </a:tc>
                <a:tc>
                  <a:txBody>
                    <a:bodyPr vert="horz" wrap="square"/>
                    <a:lstStyle/>
                    <a:p>
                      <a:pPr marL="0" indent="0">
                        <a:buFontTx/>
                        <a:buNone/>
                      </a:pPr>
                      <a:r>
                        <a:rPr lang="en-US" sz="1000" noProof="0">
                          <a:latin typeface="+mj-lt"/>
                        </a:rPr>
                        <a:t>Report</a:t>
                      </a:r>
                    </a:p>
                  </a:txBody>
                  <a:tcPr>
                    <a:solidFill>
                      <a:srgbClr val="FFFFFF"/>
                    </a:solidFill>
                  </a:tcPr>
                </a:tc>
                <a:tc>
                  <a:txBody>
                    <a:bodyPr vert="horz" wrap="square"/>
                    <a:lstStyle/>
                    <a:p>
                      <a:pPr marL="0" indent="0">
                        <a:buNone/>
                      </a:pPr>
                      <a:r>
                        <a:rPr lang="en-US" sz="1000" noProof="0">
                          <a:latin typeface="+mj-lt"/>
                        </a:rPr>
                        <a:t>Feb 23</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endParaRPr lang="en-US" sz="1000" noProof="0">
                        <a:latin typeface="+mj-lt"/>
                      </a:endParaRP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Global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No local data, but will provide a deck w/ EMEA local cuts. Launch timed w/ PEI NEXUS. Webinar date TBC.</a:t>
                      </a:r>
                    </a:p>
                  </a:txBody>
                  <a:tcPr>
                    <a:solidFill>
                      <a:srgbClr val="FFFFFF"/>
                    </a:solidFill>
                  </a:tcPr>
                </a:tc>
                <a:extLst>
                  <a:ext uri="{0D108BD9-81ED-4DB2-BD59-A6C34878D82A}">
                    <a16:rowId xmlns:a16="http://schemas.microsoft.com/office/drawing/2014/main" val="597785697"/>
                  </a:ext>
                </a:extLst>
              </a:tr>
              <a:tr h="260917">
                <a:tc>
                  <a:txBody>
                    <a:bodyPr vert="horz" wrap="square"/>
                    <a:lstStyle/>
                    <a:p>
                      <a:pPr marL="0" indent="0" algn="l" rtl="0">
                        <a:buFontTx/>
                        <a:buNone/>
                      </a:pPr>
                      <a:r>
                        <a:rPr lang="en-US" sz="1000" noProof="0">
                          <a:latin typeface="+mj-lt"/>
                        </a:rPr>
                        <a:t>CP</a:t>
                      </a:r>
                    </a:p>
                  </a:txBody>
                  <a:tcPr>
                    <a:solidFill>
                      <a:srgbClr val="FFFFFF"/>
                    </a:solidFill>
                  </a:tcPr>
                </a:tc>
                <a:tc>
                  <a:txBody>
                    <a:bodyPr vert="horz" wrap="square"/>
                    <a:lstStyle/>
                    <a:p>
                      <a:pPr marL="0" indent="0" algn="l">
                        <a:buFontTx/>
                        <a:buNone/>
                      </a:pPr>
                      <a:r>
                        <a:rPr lang="en-US" sz="1000" b="1" noProof="0">
                          <a:latin typeface="+mj-lt"/>
                        </a:rPr>
                        <a:t>Insurgent Brands List</a:t>
                      </a:r>
                    </a:p>
                  </a:txBody>
                  <a:tcPr>
                    <a:solidFill>
                      <a:srgbClr val="FFFFFF"/>
                    </a:solidFill>
                  </a:tcPr>
                </a:tc>
                <a:tc>
                  <a:txBody>
                    <a:bodyPr vert="horz" wrap="square"/>
                    <a:lstStyle/>
                    <a:p>
                      <a:pPr marL="0" indent="0">
                        <a:buFontTx/>
                        <a:buNone/>
                      </a:pPr>
                      <a:r>
                        <a:rPr lang="en-US" sz="1000" noProof="0" err="1">
                          <a:latin typeface="+mj-lt"/>
                        </a:rPr>
                        <a:t>Snapchart/List</a:t>
                      </a:r>
                    </a:p>
                  </a:txBody>
                  <a:tcPr>
                    <a:solidFill>
                      <a:srgbClr val="FFFFFF"/>
                    </a:solidFill>
                  </a:tcPr>
                </a:tc>
                <a:tc>
                  <a:txBody>
                    <a:bodyPr vert="horz" wrap="square"/>
                    <a:lstStyle/>
                    <a:p>
                      <a:pPr marL="0" indent="0">
                        <a:buNone/>
                      </a:pPr>
                      <a:r>
                        <a:rPr lang="en-US" sz="1000" noProof="0">
                          <a:latin typeface="+mj-lt"/>
                        </a:rPr>
                        <a:t>TBD: Feb. 26-Mar. 2</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CP and PEG</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Amers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This releases in-line with Expo West and PR has a big role as we sent press kits to all companies on the list.</a:t>
                      </a:r>
                    </a:p>
                  </a:txBody>
                  <a:tcPr>
                    <a:solidFill>
                      <a:srgbClr val="FFFFFF"/>
                    </a:solidFill>
                  </a:tcPr>
                </a:tc>
                <a:extLst>
                  <a:ext uri="{0D108BD9-81ED-4DB2-BD59-A6C34878D82A}">
                    <a16:rowId xmlns:a16="http://schemas.microsoft.com/office/drawing/2014/main" val="437873142"/>
                  </a:ext>
                </a:extLst>
              </a:tr>
              <a:tr h="332076">
                <a:tc>
                  <a:txBody>
                    <a:bodyPr vert="horz" wrap="square"/>
                    <a:lstStyle/>
                    <a:p>
                      <a:pPr marL="0" indent="0" algn="l">
                        <a:buFontTx/>
                        <a:buNone/>
                      </a:pPr>
                      <a:r>
                        <a:rPr lang="en-US" sz="1000" b="1" noProof="0"/>
                        <a:t>PE</a:t>
                      </a:r>
                    </a:p>
                  </a:txBody>
                  <a:tcPr>
                    <a:solidFill>
                      <a:srgbClr val="FFFFFF"/>
                    </a:solidFill>
                  </a:tcPr>
                </a:tc>
                <a:tc>
                  <a:txBody>
                    <a:bodyPr vert="horz" wrap="square"/>
                    <a:lstStyle/>
                    <a:p>
                      <a:pPr marL="0" indent="0" algn="l">
                        <a:buFontTx/>
                        <a:buNone/>
                      </a:pPr>
                      <a:r>
                        <a:rPr lang="en-US" sz="1000" b="1" noProof="0"/>
                        <a:t>PE-Tech Report (TBC)</a:t>
                      </a:r>
                    </a:p>
                  </a:txBody>
                  <a:tcPr>
                    <a:solidFill>
                      <a:srgbClr val="BBCABA"/>
                    </a:solidFill>
                  </a:tcPr>
                </a:tc>
                <a:tc>
                  <a:txBody>
                    <a:bodyPr vert="horz" wrap="square"/>
                    <a:lstStyle/>
                    <a:p>
                      <a:pPr marL="0" indent="0">
                        <a:buFontTx/>
                        <a:buNone/>
                      </a:pPr>
                      <a:r>
                        <a:rPr lang="en-US" sz="1000" noProof="0"/>
                        <a:t>Report</a:t>
                      </a:r>
                    </a:p>
                  </a:txBody>
                  <a:tcPr>
                    <a:solidFill>
                      <a:srgbClr val="FFFFFF"/>
                    </a:solidFill>
                  </a:tcPr>
                </a:tc>
                <a:tc>
                  <a:txBody>
                    <a:bodyPr vert="horz" wrap="square"/>
                    <a:lstStyle/>
                    <a:p>
                      <a:pPr marL="0" indent="0">
                        <a:buNone/>
                      </a:pPr>
                      <a:r>
                        <a:rPr lang="en-US" sz="1000" noProof="0"/>
                        <a:t>Mar TBC</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TMT</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Global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Plan is to formalize the annual PPT report the PE-Tech team produce into an official publication/campaign.</a:t>
                      </a:r>
                    </a:p>
                  </a:txBody>
                  <a:tcPr>
                    <a:solidFill>
                      <a:srgbClr val="FFFFFF"/>
                    </a:solidFill>
                  </a:tcPr>
                </a:tc>
                <a:extLst>
                  <a:ext uri="{0D108BD9-81ED-4DB2-BD59-A6C34878D82A}">
                    <a16:rowId xmlns:a16="http://schemas.microsoft.com/office/drawing/2014/main" val="2630778725"/>
                  </a:ext>
                </a:extLst>
              </a:tr>
              <a:tr h="332076">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PI</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mj-lt"/>
                          <a:ea typeface="+mn-ea"/>
                          <a:cs typeface="+mn-cs"/>
                        </a:rPr>
                        <a:t>CFO Virtual Roundtable</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Virtual Event</a:t>
                      </a:r>
                    </a:p>
                  </a:txBody>
                  <a:tcPr>
                    <a:solidFill>
                      <a:srgbClr val="FFFFFF"/>
                    </a:solidFill>
                  </a:tcPr>
                </a:tc>
                <a:tc>
                  <a:txBody>
                    <a:bodyPr vert="horz" wrap="square"/>
                    <a:lstStyle/>
                    <a:p>
                      <a:pPr marL="0" indent="0" rtl="0">
                        <a:buNone/>
                      </a:pPr>
                      <a:r>
                        <a:rPr lang="en-US" sz="1000" noProof="0">
                          <a:latin typeface="+mj-lt"/>
                        </a:rPr>
                        <a:t>Mar</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All industries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Virtual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Topic is TBD, possibly M&amp;A/value creation</a:t>
                      </a:r>
                    </a:p>
                  </a:txBody>
                  <a:tcPr>
                    <a:solidFill>
                      <a:srgbClr val="FFFFFF"/>
                    </a:solidFill>
                  </a:tcPr>
                </a:tc>
                <a:extLst>
                  <a:ext uri="{0D108BD9-81ED-4DB2-BD59-A6C34878D82A}">
                    <a16:rowId xmlns:a16="http://schemas.microsoft.com/office/drawing/2014/main" val="430016791"/>
                  </a:ext>
                </a:extLst>
              </a:tr>
              <a:tr h="332076">
                <a:tc>
                  <a:txBody>
                    <a:bodyPr vert="horz" wrap="square"/>
                    <a:lstStyle/>
                    <a:p>
                      <a:pPr marL="0" indent="0" algn="l">
                        <a:buFontTx/>
                        <a:buNone/>
                      </a:pPr>
                      <a:r>
                        <a:rPr lang="en-US" sz="1000" b="1" noProof="0">
                          <a:latin typeface="+mj-lt"/>
                        </a:rPr>
                        <a:t>TMT</a:t>
                      </a:r>
                    </a:p>
                  </a:txBody>
                  <a:tcPr>
                    <a:solidFill>
                      <a:srgbClr val="FFFFFF"/>
                    </a:solidFill>
                  </a:tcPr>
                </a:tc>
                <a:tc>
                  <a:txBody>
                    <a:bodyPr vert="horz" wrap="square"/>
                    <a:lstStyle/>
                    <a:p>
                      <a:pPr marL="0" indent="0" algn="l">
                        <a:buFontTx/>
                        <a:buNone/>
                      </a:pPr>
                      <a:r>
                        <a:rPr lang="en-US" sz="1000" b="1" noProof="0">
                          <a:latin typeface="+mj-lt"/>
                        </a:rPr>
                        <a:t>MWC 2026</a:t>
                      </a:r>
                    </a:p>
                  </a:txBody>
                  <a:tcPr>
                    <a:solidFill>
                      <a:srgbClr val="FAEEC3"/>
                    </a:solidFill>
                  </a:tcPr>
                </a:tc>
                <a:tc>
                  <a:txBody>
                    <a:bodyPr vert="horz" wrap="square"/>
                    <a:lstStyle/>
                    <a:p>
                      <a:pPr marL="0" indent="0">
                        <a:buFontTx/>
                        <a:buNone/>
                      </a:pPr>
                      <a:r>
                        <a:rPr lang="en-US" sz="1000" noProof="0">
                          <a:latin typeface="+mj-lt"/>
                        </a:rPr>
                        <a:t>Conference</a:t>
                      </a:r>
                    </a:p>
                  </a:txBody>
                  <a:tcPr>
                    <a:solidFill>
                      <a:srgbClr val="FFFFFF"/>
                    </a:solidFill>
                  </a:tcPr>
                </a:tc>
                <a:tc>
                  <a:txBody>
                    <a:bodyPr vert="horz" wrap="square"/>
                    <a:lstStyle/>
                    <a:p>
                      <a:pPr marL="0" indent="0">
                        <a:buNone/>
                      </a:pPr>
                      <a:r>
                        <a:rPr lang="en-US" sz="1000" noProof="0">
                          <a:latin typeface="+mj-lt"/>
                        </a:rPr>
                        <a:t>Mar 2-5</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Vector</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Barcelona</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latin typeface="+mj-lt"/>
                        </a:rPr>
                        <a:t>Hosting an evening event with FT Live</a:t>
                      </a:r>
                    </a:p>
                  </a:txBody>
                  <a:tcPr>
                    <a:solidFill>
                      <a:srgbClr val="FAEEC3"/>
                    </a:solidFill>
                  </a:tcPr>
                </a:tc>
                <a:extLst>
                  <a:ext uri="{0D108BD9-81ED-4DB2-BD59-A6C34878D82A}">
                    <a16:rowId xmlns:a16="http://schemas.microsoft.com/office/drawing/2014/main" val="808813211"/>
                  </a:ext>
                </a:extLst>
              </a:tr>
              <a:tr h="332076">
                <a:tc>
                  <a:txBody>
                    <a:bodyPr vert="horz" wrap="square"/>
                    <a:lstStyle/>
                    <a:p>
                      <a:pPr marL="0" indent="0" algn="l" rtl="0">
                        <a:buFontTx/>
                        <a:buNone/>
                      </a:pPr>
                      <a:r>
                        <a:rPr lang="en-US" sz="1000" noProof="0"/>
                        <a:t>CP</a:t>
                      </a:r>
                    </a:p>
                  </a:txBody>
                  <a:tcPr>
                    <a:solidFill>
                      <a:srgbClr val="FFFFFF"/>
                    </a:solidFill>
                  </a:tcPr>
                </a:tc>
                <a:tc>
                  <a:txBody>
                    <a:bodyPr vert="horz" wrap="square"/>
                    <a:lstStyle/>
                    <a:p>
                      <a:pPr marL="0" indent="0" algn="l">
                        <a:buFontTx/>
                        <a:buNone/>
                      </a:pPr>
                      <a:r>
                        <a:rPr lang="en-US" sz="1000" b="1" noProof="0"/>
                        <a:t>Expo West </a:t>
                      </a:r>
                    </a:p>
                  </a:txBody>
                  <a:tcPr>
                    <a:solidFill>
                      <a:srgbClr val="FFFFFF"/>
                    </a:solidFill>
                  </a:tcPr>
                </a:tc>
                <a:tc>
                  <a:txBody>
                    <a:bodyPr vert="horz" wrap="square"/>
                    <a:lstStyle/>
                    <a:p>
                      <a:pPr marL="0" indent="0">
                        <a:buFontTx/>
                        <a:buNone/>
                      </a:pPr>
                      <a:r>
                        <a:rPr lang="en-US" sz="1000" noProof="0"/>
                        <a:t>Conference</a:t>
                      </a:r>
                    </a:p>
                  </a:txBody>
                  <a:tcPr>
                    <a:solidFill>
                      <a:srgbClr val="FFFFFF"/>
                    </a:solidFill>
                  </a:tcPr>
                </a:tc>
                <a:tc>
                  <a:txBody>
                    <a:bodyPr vert="horz" wrap="square"/>
                    <a:lstStyle/>
                    <a:p>
                      <a:pPr marL="0" indent="0">
                        <a:buNone/>
                      </a:pPr>
                      <a:r>
                        <a:rPr lang="en-US" sz="1000" noProof="0"/>
                        <a:t>Mar 3-6</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CP and PEG</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Amers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Sending a delegation of 10 partners to the conference, where we are hosting a session and a networking breakfast</a:t>
                      </a:r>
                    </a:p>
                  </a:txBody>
                  <a:tcPr>
                    <a:solidFill>
                      <a:srgbClr val="FFFFFF"/>
                    </a:solidFill>
                  </a:tcPr>
                </a:tc>
                <a:extLst>
                  <a:ext uri="{0D108BD9-81ED-4DB2-BD59-A6C34878D82A}">
                    <a16:rowId xmlns:a16="http://schemas.microsoft.com/office/drawing/2014/main" val="2805565553"/>
                  </a:ext>
                </a:extLst>
              </a:tr>
              <a:tr h="332076">
                <a:tc>
                  <a:txBody>
                    <a:bodyPr vert="horz" wrap="square"/>
                    <a:lstStyle/>
                    <a:p>
                      <a:pPr marL="0" indent="0" algn="l" rtl="0">
                        <a:buFontTx/>
                        <a:buNone/>
                      </a:pPr>
                      <a:r>
                        <a:rPr lang="en-US" sz="1000" noProof="0"/>
                        <a:t>ENR</a:t>
                      </a:r>
                    </a:p>
                  </a:txBody>
                  <a:tcPr>
                    <a:solidFill>
                      <a:srgbClr val="FFFFFF"/>
                    </a:solidFill>
                  </a:tcPr>
                </a:tc>
                <a:tc>
                  <a:txBody>
                    <a:bodyPr vert="horz" wrap="square"/>
                    <a:lstStyle/>
                    <a:p>
                      <a:pPr marL="0" indent="0" algn="l">
                        <a:buFontTx/>
                        <a:buNone/>
                      </a:pPr>
                      <a:r>
                        <a:rPr lang="en-US" sz="1000" b="1" noProof="0"/>
                        <a:t>ENR Annual Executive Survey</a:t>
                      </a:r>
                    </a:p>
                  </a:txBody>
                  <a:tcPr>
                    <a:solidFill>
                      <a:srgbClr val="FFFFFF"/>
                    </a:solidFill>
                  </a:tcPr>
                </a:tc>
                <a:tc>
                  <a:txBody>
                    <a:bodyPr vert="horz" wrap="square"/>
                    <a:lstStyle/>
                    <a:p>
                      <a:pPr marL="0" indent="0">
                        <a:buFontTx/>
                        <a:buNone/>
                      </a:pPr>
                      <a:r>
                        <a:rPr lang="en-US" sz="1000" noProof="0"/>
                        <a:t>Report (Brief)</a:t>
                      </a:r>
                    </a:p>
                  </a:txBody>
                  <a:tcPr>
                    <a:solidFill>
                      <a:srgbClr val="FFFFFF"/>
                    </a:solidFill>
                  </a:tcPr>
                </a:tc>
                <a:tc>
                  <a:txBody>
                    <a:bodyPr vert="horz" wrap="square"/>
                    <a:lstStyle/>
                    <a:p>
                      <a:pPr marL="0" indent="0">
                        <a:buNone/>
                      </a:pPr>
                      <a:r>
                        <a:rPr lang="en-US" sz="1000" noProof="0"/>
                        <a:t>~Mar 10</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Survey includes questions on capital investment, AI, Tariffs, Strategy, Net Zero, data centers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Relevant to all regions where ENR is a priority</a:t>
                      </a:r>
                    </a:p>
                  </a:txBody>
                  <a:tcPr>
                    <a:solidFill>
                      <a:srgbClr val="FFFFFF"/>
                    </a:solidFill>
                  </a:tcPr>
                </a:tc>
                <a:tc>
                  <a:txBody>
                    <a:bodyPr vert="horz" wrap="square"/>
                    <a:lstStyle/>
                    <a:p>
                      <a:pPr marL="0" indent="0" algn="l" rtl="0">
                        <a:buFontTx/>
                        <a:buNone/>
                      </a:pPr>
                      <a:r>
                        <a:rPr lang="en-US" sz="1000" noProof="0"/>
                        <a:t>Timed for release just ahead of annual CERAWeek conference, global oil &amp; gas convening that is increasingly relevant to utilities and chemicals companies, and oil field services companies (e.g., GE Vernova, AMS)</a:t>
                      </a:r>
                    </a:p>
                  </a:txBody>
                  <a:tcPr>
                    <a:solidFill>
                      <a:srgbClr val="FFFFFF"/>
                    </a:solidFill>
                  </a:tcPr>
                </a:tc>
                <a:extLst>
                  <a:ext uri="{0D108BD9-81ED-4DB2-BD59-A6C34878D82A}">
                    <a16:rowId xmlns:a16="http://schemas.microsoft.com/office/drawing/2014/main" val="1053692474"/>
                  </a:ext>
                </a:extLst>
              </a:tr>
              <a:tr h="332076">
                <a:tc>
                  <a:txBody>
                    <a:bodyPr vert="horz" wrap="square"/>
                    <a:lstStyle/>
                    <a:p>
                      <a:pPr marL="0" indent="0" algn="l">
                        <a:buFontTx/>
                        <a:buNone/>
                      </a:pPr>
                      <a:r>
                        <a:rPr lang="en-US" sz="1000" b="1" noProof="0"/>
                        <a:t>Customer</a:t>
                      </a:r>
                    </a:p>
                  </a:txBody>
                  <a:tcPr>
                    <a:solidFill>
                      <a:srgbClr val="FFFFFF"/>
                    </a:solidFill>
                  </a:tcPr>
                </a:tc>
                <a:tc>
                  <a:txBody>
                    <a:bodyPr vert="horz" wrap="square"/>
                    <a:lstStyle/>
                    <a:p>
                      <a:pPr marL="0" indent="0" algn="l">
                        <a:buFontTx/>
                        <a:buNone/>
                      </a:pPr>
                      <a:r>
                        <a:rPr lang="en-US" sz="1000" b="1" noProof="0"/>
                        <a:t>Growth Agenda</a:t>
                      </a:r>
                    </a:p>
                  </a:txBody>
                  <a:tcPr>
                    <a:solidFill>
                      <a:srgbClr val="FFFFFF"/>
                    </a:solidFill>
                  </a:tcPr>
                </a:tc>
                <a:tc>
                  <a:txBody>
                    <a:bodyPr vert="horz" wrap="square"/>
                    <a:lstStyle/>
                    <a:p>
                      <a:pPr marL="0" indent="0">
                        <a:buFontTx/>
                        <a:buNone/>
                      </a:pPr>
                      <a:r>
                        <a:rPr lang="en-US" sz="1000" noProof="0"/>
                        <a:t>Report</a:t>
                      </a:r>
                    </a:p>
                  </a:txBody>
                  <a:tcPr>
                    <a:solidFill>
                      <a:srgbClr val="FFFFFF"/>
                    </a:solidFill>
                  </a:tcPr>
                </a:tc>
                <a:tc>
                  <a:txBody>
                    <a:bodyPr vert="horz" wrap="square"/>
                    <a:lstStyle/>
                    <a:p>
                      <a:pPr marL="0" indent="0">
                        <a:buNone/>
                      </a:pPr>
                      <a:r>
                        <a:rPr lang="en-US" sz="1000" noProof="0"/>
                        <a:t>Mar 16</a:t>
                      </a:r>
                    </a:p>
                  </a:txBody>
                  <a:tcPr>
                    <a:solidFill>
                      <a:srgbClr val="FFFFFF"/>
                    </a:solidFill>
                  </a:tcPr>
                </a:tc>
                <a:tc>
                  <a:txBody>
                    <a:bodyPr vert="horz" wrap="square"/>
                    <a:lstStyle/>
                    <a:p>
                      <a:pPr marL="0" marR="0" lvl="0" indent="0" algn="l" rtl="0" eaLnBrk="1" fontAlgn="auto" latinLnBrk="0" hangingPunct="1">
                        <a:lnSpc>
                          <a:spcPct val="100000"/>
                        </a:lnSpc>
                        <a:spcBef>
                          <a:spcPts val="1200"/>
                        </a:spcBef>
                        <a:spcAft>
                          <a:spcPct val="0"/>
                        </a:spcAft>
                        <a:buClrTx/>
                        <a:buSzTx/>
                        <a:buFontTx/>
                        <a:buNone/>
                      </a:pPr>
                      <a:r>
                        <a:rPr lang="en-US" sz="1000" noProof="0"/>
                        <a:t>TMT, AMS, FS, HLS, etc.</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Global</a:t>
                      </a:r>
                    </a:p>
                  </a:txBody>
                  <a:tcPr>
                    <a:solidFill>
                      <a:srgbClr val="FFFFFF"/>
                    </a:solidFill>
                  </a:tcPr>
                </a:tc>
                <a:tc>
                  <a:txBody>
                    <a:bodyPr vert="horz" wrap="square"/>
                    <a:lstStyle/>
                    <a:p>
                      <a:pPr marL="0" marR="0" lvl="0" indent="0" algn="l" rtl="0" eaLnBrk="1" fontAlgn="auto" latinLnBrk="0" hangingPunct="1">
                        <a:lnSpc>
                          <a:spcPct val="100000"/>
                        </a:lnSpc>
                        <a:spcBef>
                          <a:spcPts val="1200"/>
                        </a:spcBef>
                        <a:spcAft>
                          <a:spcPct val="0"/>
                        </a:spcAft>
                        <a:buClrTx/>
                        <a:buSzTx/>
                        <a:buFontTx/>
                        <a:buNone/>
                      </a:pPr>
                      <a:r>
                        <a:rPr lang="en-US" sz="1000" noProof="0"/>
                        <a:t>Will have sector and region-specific data cuts</a:t>
                      </a:r>
                    </a:p>
                  </a:txBody>
                  <a:tcPr>
                    <a:solidFill>
                      <a:srgbClr val="FFFFFF"/>
                    </a:solidFill>
                  </a:tcPr>
                </a:tc>
                <a:extLst>
                  <a:ext uri="{0D108BD9-81ED-4DB2-BD59-A6C34878D82A}">
                    <a16:rowId xmlns:a16="http://schemas.microsoft.com/office/drawing/2014/main" val="630268362"/>
                  </a:ext>
                </a:extLst>
              </a:tr>
            </a:tbl>
          </a:graphicData>
        </a:graphic>
      </p:graphicFrame>
      <p:sp>
        <p:nvSpPr>
          <p:cNvPr id="18" name="Title 17">
            <a:extLst>
              <a:ext uri="{FF2B5EF4-FFF2-40B4-BE49-F238E27FC236}">
                <a16:creationId xmlns:a16="http://schemas.microsoft.com/office/drawing/2014/main" id="{7FBE86C7-853F-2DBB-B0E1-3287957DA4DC}"/>
              </a:ext>
            </a:extLst>
          </p:cNvPr>
          <p:cNvSpPr>
            <a:spLocks noGrp="1"/>
          </p:cNvSpPr>
          <p:nvPr>
            <p:ph type="title"/>
          </p:nvPr>
        </p:nvSpPr>
        <p:spPr/>
        <p:txBody>
          <a:bodyPr vert="horz"/>
          <a:lstStyle/>
          <a:p>
            <a:r>
              <a:rPr lang="en-US" noProof="0"/>
              <a:t>Q1 2026 major practice campaigns (3 of 4)</a:t>
            </a:r>
          </a:p>
        </p:txBody>
      </p:sp>
    </p:spTree>
    <p:custDataLst>
      <p:tags r:id="rId6"/>
    </p:custDataLst>
    <p:extLst>
      <p:ext uri="{BB962C8B-B14F-4D97-AF65-F5344CB8AC3E}">
        <p14:creationId xmlns:p14="http://schemas.microsoft.com/office/powerpoint/2010/main" val="4192512391"/>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D689C730-3515-8DA3-ADE0-E2A984FAF1FA}"/>
            </a:ext>
          </a:extLst>
        </p:cNvPr>
        <p:cNvGrpSpPr/>
        <p:nvPr/>
      </p:nvGrpSpPr>
      <p:grpSpPr>
        <a:xfrm>
          <a:off x="0" y="0"/>
          <a:ext cx="0" cy="0"/>
        </a:xfrm>
      </p:grpSpPr>
      <p:graphicFrame>
        <p:nvGraphicFramePr>
          <p:cNvPr id="20" name="think-cell data - do not delete" hidden="1">
            <a:extLst>
              <a:ext uri="{FF2B5EF4-FFF2-40B4-BE49-F238E27FC236}">
                <a16:creationId xmlns:a16="http://schemas.microsoft.com/office/drawing/2014/main" id="{6C0259A7-5C18-ADF3-CA43-5CF1B25FA890}"/>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mc:Choice xmlns:v="urn:schemas-microsoft-com:vml" Requires="v">
                <p:oleObj spid="_x0000_s1042"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1" name="btfpColumnIndicatorGroup2">
            <a:extLst>
              <a:ext uri="{FF2B5EF4-FFF2-40B4-BE49-F238E27FC236}">
                <a16:creationId xmlns:a16="http://schemas.microsoft.com/office/drawing/2014/main" id="{9B7F6C7F-2122-3B28-DEB4-7D275381F312}"/>
              </a:ext>
            </a:extLst>
          </p:cNvPr>
          <p:cNvGrpSpPr/>
          <p:nvPr/>
        </p:nvGrpSpPr>
        <p:grpSpPr>
          <a:xfrm>
            <a:off x="0" y="6926580"/>
            <a:ext cx="12192000" cy="137160"/>
            <a:chOff x="0" y="6926580"/>
            <a:chExt cx="12192000" cy="137160"/>
          </a:xfrm>
        </p:grpSpPr>
        <p:sp>
          <p:nvSpPr>
            <p:cNvPr id="9" name="btfpColumnGapBlocker361596">
              <a:extLst>
                <a:ext uri="{FF2B5EF4-FFF2-40B4-BE49-F238E27FC236}">
                  <a16:creationId xmlns:a16="http://schemas.microsoft.com/office/drawing/2014/main" id="{7AA22757-5A3D-1643-0D92-8363CEA0B74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7" name="btfpColumnGapBlocker936745">
              <a:extLst>
                <a:ext uri="{FF2B5EF4-FFF2-40B4-BE49-F238E27FC236}">
                  <a16:creationId xmlns:a16="http://schemas.microsoft.com/office/drawing/2014/main" id="{98E1355D-506F-8F2B-5E77-9B0365BE501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5" name="btfpColumnIndicator938788">
              <a:extLst>
                <a:ext uri="{FF2B5EF4-FFF2-40B4-BE49-F238E27FC236}">
                  <a16:creationId xmlns:a16="http://schemas.microsoft.com/office/drawing/2014/main" id="{054C6B1F-A835-7D5D-A300-6F405B4EEE19}"/>
                </a:ext>
              </a:extLst>
            </p:cNvPr>
            <p:cNvCxnSpPr/>
            <p:nvPr/>
          </p:nvCxnSpPr>
          <p:spPr bwMode="gray">
            <a:xfrm flipH="1"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174256">
              <a:extLst>
                <a:ext uri="{FF2B5EF4-FFF2-40B4-BE49-F238E27FC236}">
                  <a16:creationId xmlns:a16="http://schemas.microsoft.com/office/drawing/2014/main" id="{4FDF2DF3-1958-37AF-ED99-80ABF2CF0F52}"/>
                </a:ext>
              </a:extLst>
            </p:cNvPr>
            <p:cNvCxnSpPr/>
            <p:nvPr/>
          </p:nvCxnSpPr>
          <p:spPr bwMode="gray">
            <a:xfrm flipH="1"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0" name="btfpColumnIndicatorGroup1">
            <a:extLst>
              <a:ext uri="{FF2B5EF4-FFF2-40B4-BE49-F238E27FC236}">
                <a16:creationId xmlns:a16="http://schemas.microsoft.com/office/drawing/2014/main" id="{A39B01E7-418E-DAA5-BA3A-5AEEBF5FF0CA}"/>
              </a:ext>
            </a:extLst>
          </p:cNvPr>
          <p:cNvGrpSpPr/>
          <p:nvPr/>
        </p:nvGrpSpPr>
        <p:grpSpPr>
          <a:xfrm>
            <a:off x="0" y="-205740"/>
            <a:ext cx="12192000" cy="137160"/>
            <a:chOff x="0" y="-205740"/>
            <a:chExt cx="12192000" cy="137160"/>
          </a:xfrm>
        </p:grpSpPr>
        <p:sp>
          <p:nvSpPr>
            <p:cNvPr id="8" name="btfpColumnGapBlocker928271">
              <a:extLst>
                <a:ext uri="{FF2B5EF4-FFF2-40B4-BE49-F238E27FC236}">
                  <a16:creationId xmlns:a16="http://schemas.microsoft.com/office/drawing/2014/main" id="{6FA5B15E-2946-9E4C-335C-64CF08121E63}"/>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sp>
          <p:nvSpPr>
            <p:cNvPr id="6" name="btfpColumnGapBlocker495938">
              <a:extLst>
                <a:ext uri="{FF2B5EF4-FFF2-40B4-BE49-F238E27FC236}">
                  <a16:creationId xmlns:a16="http://schemas.microsoft.com/office/drawing/2014/main" id="{816861E2-BC22-DC22-CBA1-295003E8CF1F}"/>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noProof="0">
                <a:solidFill>
                  <a:schemeClr val="tx1"/>
                </a:solidFill>
              </a:endParaRPr>
            </a:p>
          </p:txBody>
        </p:sp>
        <p:cxnSp>
          <p:nvCxnSpPr>
            <p:cNvPr id="4" name="btfpColumnIndicator677607">
              <a:extLst>
                <a:ext uri="{FF2B5EF4-FFF2-40B4-BE49-F238E27FC236}">
                  <a16:creationId xmlns:a16="http://schemas.microsoft.com/office/drawing/2014/main" id="{F58C10A8-432D-6DBA-4EEC-0E2830D7A010}"/>
                </a:ext>
              </a:extLst>
            </p:cNvPr>
            <p:cNvCxnSpPr/>
            <p:nvPr/>
          </p:nvCxnSpPr>
          <p:spPr bwMode="gray">
            <a:xfrm flipH="1"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 name="btfpColumnIndicator615217">
              <a:extLst>
                <a:ext uri="{FF2B5EF4-FFF2-40B4-BE49-F238E27FC236}">
                  <a16:creationId xmlns:a16="http://schemas.microsoft.com/office/drawing/2014/main" id="{1C850A3C-0FCE-D168-CE71-745724E63357}"/>
                </a:ext>
              </a:extLst>
            </p:cNvPr>
            <p:cNvCxnSpPr/>
            <p:nvPr/>
          </p:nvCxnSpPr>
          <p:spPr bwMode="gray">
            <a:xfrm flipH="1"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12" name="btfpTable570053">
            <a:extLst>
              <a:ext uri="{FF2B5EF4-FFF2-40B4-BE49-F238E27FC236}">
                <a16:creationId xmlns:a16="http://schemas.microsoft.com/office/drawing/2014/main" id="{BA7DE101-C608-2574-C932-5D35875204BE}"/>
              </a:ext>
            </a:extLst>
          </p:cNvPr>
          <p:cNvGraphicFramePr>
            <a:graphicFrameLocks noGrp="1"/>
          </p:cNvGraphicFramePr>
          <p:nvPr>
            <p:custDataLst>
              <p:tags r:id="rId5"/>
            </p:custDataLst>
            <p:extLst>
              <p:ext uri="{D42A27DB-BD31-4B8C-83A1-F6EECF244321}">
                <p14:modId xmlns:p14="http://schemas.microsoft.com/office/powerpoint/2010/main" val="3691871189"/>
              </p:ext>
            </p:extLst>
          </p:nvPr>
        </p:nvGraphicFramePr>
        <p:xfrm>
          <a:off x="330200" y="1270001"/>
          <a:ext cx="11531600" cy="4403961"/>
        </p:xfrm>
        <a:graphic>
          <a:graphicData uri="http://schemas.openxmlformats.org/drawingml/2006/table">
            <a:tbl>
              <a:tblPr firstRow="1" firstCol="1">
                <a:tableStyleId>{9D7B26C5-4107-4FEC-AEDC-1716B250A1EF}</a:tableStyleId>
              </a:tblPr>
              <a:tblGrid>
                <a:gridCol w="1123698">
                  <a:extLst>
                    <a:ext uri="{9D8B030D-6E8A-4147-A177-3AD203B41FA5}">
                      <a16:colId xmlns:a16="http://schemas.microsoft.com/office/drawing/2014/main" val="39789201"/>
                    </a:ext>
                  </a:extLst>
                </a:gridCol>
                <a:gridCol w="1798090">
                  <a:extLst>
                    <a:ext uri="{9D8B030D-6E8A-4147-A177-3AD203B41FA5}">
                      <a16:colId xmlns:a16="http://schemas.microsoft.com/office/drawing/2014/main" val="4033970088"/>
                    </a:ext>
                  </a:extLst>
                </a:gridCol>
                <a:gridCol w="1446284">
                  <a:extLst>
                    <a:ext uri="{9D8B030D-6E8A-4147-A177-3AD203B41FA5}">
                      <a16:colId xmlns:a16="http://schemas.microsoft.com/office/drawing/2014/main" val="2498033224"/>
                    </a:ext>
                  </a:extLst>
                </a:gridCol>
                <a:gridCol w="989970">
                  <a:extLst>
                    <a:ext uri="{9D8B030D-6E8A-4147-A177-3AD203B41FA5}">
                      <a16:colId xmlns:a16="http://schemas.microsoft.com/office/drawing/2014/main" val="2743447410"/>
                    </a:ext>
                  </a:extLst>
                </a:gridCol>
                <a:gridCol w="1489800">
                  <a:extLst>
                    <a:ext uri="{9D8B030D-6E8A-4147-A177-3AD203B41FA5}">
                      <a16:colId xmlns:a16="http://schemas.microsoft.com/office/drawing/2014/main" val="3890390591"/>
                    </a:ext>
                  </a:extLst>
                </a:gridCol>
                <a:gridCol w="1062466">
                  <a:extLst>
                    <a:ext uri="{9D8B030D-6E8A-4147-A177-3AD203B41FA5}">
                      <a16:colId xmlns:a16="http://schemas.microsoft.com/office/drawing/2014/main" val="346105412"/>
                    </a:ext>
                  </a:extLst>
                </a:gridCol>
                <a:gridCol w="3621292">
                  <a:extLst>
                    <a:ext uri="{9D8B030D-6E8A-4147-A177-3AD203B41FA5}">
                      <a16:colId xmlns:a16="http://schemas.microsoft.com/office/drawing/2014/main" val="2241445207"/>
                    </a:ext>
                  </a:extLst>
                </a:gridCol>
              </a:tblGrid>
              <a:tr h="599454">
                <a:tc>
                  <a:txBody>
                    <a:bodyPr vert="horz" wrap="square"/>
                    <a:lstStyle/>
                    <a:p>
                      <a:pPr marL="0" indent="0" rtl="0">
                        <a:spcBef>
                          <a:spcPct val="0"/>
                        </a:spcBef>
                        <a:buFontTx/>
                        <a:buNone/>
                      </a:pPr>
                      <a:r>
                        <a:rPr lang="en-US" sz="1200" noProof="0"/>
                        <a:t>Practice</a:t>
                      </a:r>
                    </a:p>
                  </a:txBody>
                  <a:tcPr/>
                </a:tc>
                <a:tc>
                  <a:txBody>
                    <a:bodyPr vert="horz" wrap="square"/>
                    <a:lstStyle/>
                    <a:p>
                      <a:pPr marL="0" indent="0" rtl="0">
                        <a:spcBef>
                          <a:spcPct val="0"/>
                        </a:spcBef>
                        <a:buFontTx/>
                        <a:buNone/>
                      </a:pPr>
                      <a:r>
                        <a:rPr lang="en-US" sz="1200" noProof="0"/>
                        <a:t>Campaign Name</a:t>
                      </a:r>
                    </a:p>
                  </a:txBody>
                  <a:tcPr/>
                </a:tc>
                <a:tc>
                  <a:txBody>
                    <a:bodyPr vert="horz" wrap="square"/>
                    <a:lstStyle/>
                    <a:p>
                      <a:pPr marL="0" indent="0" rtl="0">
                        <a:spcBef>
                          <a:spcPct val="0"/>
                        </a:spcBef>
                        <a:buFontTx/>
                        <a:buNone/>
                      </a:pPr>
                      <a:r>
                        <a:rPr lang="en-US" sz="1200" noProof="0"/>
                        <a:t>Campaign type </a:t>
                      </a:r>
                    </a:p>
                    <a:p>
                      <a:pPr marL="0" indent="0" rtl="0">
                        <a:spcBef>
                          <a:spcPct val="0"/>
                        </a:spcBef>
                        <a:buFontTx/>
                        <a:buNone/>
                      </a:pPr>
                      <a:r>
                        <a:rPr lang="en-US" sz="900" b="0" i="0" noProof="0"/>
                        <a:t>(using Campaign Framework)</a:t>
                      </a:r>
                      <a:endParaRPr lang="en-US" sz="1200" b="0" i="0" noProof="0"/>
                    </a:p>
                  </a:txBody>
                  <a:tcPr/>
                </a:tc>
                <a:tc>
                  <a:txBody>
                    <a:bodyPr vert="horz" wrap="square"/>
                    <a:lstStyle/>
                    <a:p>
                      <a:pPr marL="0" indent="0" rtl="0">
                        <a:spcBef>
                          <a:spcPct val="0"/>
                        </a:spcBef>
                        <a:buFontTx/>
                        <a:buNone/>
                      </a:pPr>
                      <a:r>
                        <a:rPr lang="en-US" sz="1200" noProof="0"/>
                        <a:t>Timing</a:t>
                      </a:r>
                      <a:br>
                        <a:rPr lang="en-US" sz="1400" noProof="0"/>
                      </a:br>
                      <a:r>
                        <a:rPr lang="en-US" sz="900" b="0" noProof="0"/>
                        <a:t>(or date if available)  </a:t>
                      </a:r>
                      <a:endParaRPr lang="en-US" sz="1400" b="0" noProof="0"/>
                    </a:p>
                  </a:txBody>
                  <a:tcPr/>
                </a:tc>
                <a:tc>
                  <a:txBody>
                    <a:bodyPr vert="horz" wrap="square"/>
                    <a:lstStyle/>
                    <a:p>
                      <a:pPr marL="0" indent="0" rtl="0">
                        <a:spcBef>
                          <a:spcPct val="0"/>
                        </a:spcBef>
                        <a:buFontTx/>
                        <a:buNone/>
                      </a:pPr>
                      <a:r>
                        <a:rPr lang="en-US" sz="1200" i="0" noProof="0"/>
                        <a:t>Relevance to/ involvement of other Practices</a:t>
                      </a:r>
                    </a:p>
                  </a:txBody>
                  <a:tcPr/>
                </a:tc>
                <a:tc>
                  <a:txBody>
                    <a:bodyPr vert="horz" wrap="square"/>
                    <a:lstStyle/>
                    <a:p>
                      <a:pPr marL="0" indent="0" rtl="0">
                        <a:spcBef>
                          <a:spcPct val="0"/>
                        </a:spcBef>
                        <a:buFontTx/>
                        <a:buNone/>
                      </a:pPr>
                      <a:r>
                        <a:rPr lang="en-US" sz="1200" i="0" noProof="0"/>
                        <a:t>Location </a:t>
                      </a:r>
                      <a:br>
                        <a:rPr lang="en-US" sz="1200" i="0" noProof="0"/>
                      </a:br>
                      <a:r>
                        <a:rPr lang="en-US" sz="900" b="0" i="0" noProof="0"/>
                        <a:t>(if any or specifying country data)</a:t>
                      </a:r>
                      <a:endParaRPr lang="en-US" sz="1200" i="0" noProof="0"/>
                    </a:p>
                  </a:txBody>
                  <a:tcPr/>
                </a:tc>
                <a:tc>
                  <a:txBody>
                    <a:bodyPr vert="horz" wrap="square"/>
                    <a:lstStyle/>
                    <a:p>
                      <a:pPr marL="0" indent="0" rtl="0">
                        <a:spcBef>
                          <a:spcPct val="0"/>
                        </a:spcBef>
                        <a:buFontTx/>
                        <a:buNone/>
                      </a:pPr>
                      <a:r>
                        <a:rPr lang="en-US" sz="1200" noProof="0"/>
                        <a:t>Other considerations</a:t>
                      </a:r>
                      <a:br>
                        <a:rPr lang="en-US" sz="1200" noProof="0"/>
                      </a:br>
                      <a:r>
                        <a:rPr lang="en-US" sz="900" b="0" i="0" noProof="0"/>
                        <a:t>(including distribution plans) </a:t>
                      </a:r>
                      <a:endParaRPr lang="en-US" sz="1400" b="0" i="0" noProof="0"/>
                    </a:p>
                  </a:txBody>
                  <a:tcPr/>
                </a:tc>
                <a:extLst>
                  <a:ext uri="{0D108BD9-81ED-4DB2-BD59-A6C34878D82A}">
                    <a16:rowId xmlns:a16="http://schemas.microsoft.com/office/drawing/2014/main" val="4104644541"/>
                  </a:ext>
                </a:extLst>
              </a:tr>
              <a:tr h="372993">
                <a:tc>
                  <a:txBody>
                    <a:bodyPr vert="horz" wrap="square"/>
                    <a:lstStyle/>
                    <a:p>
                      <a:pPr marL="0" indent="0" algn="l" rtl="0">
                        <a:buFontTx/>
                        <a:buNone/>
                      </a:pPr>
                      <a:r>
                        <a:rPr lang="en-US" sz="1000" noProof="0"/>
                        <a:t>Customer</a:t>
                      </a:r>
                    </a:p>
                  </a:txBody>
                  <a:tcPr>
                    <a:solidFill>
                      <a:srgbClr val="FFFFFF"/>
                    </a:solidFill>
                  </a:tcPr>
                </a:tc>
                <a:tc>
                  <a:txBody>
                    <a:bodyPr vert="horz" wrap="square"/>
                    <a:lstStyle/>
                    <a:p>
                      <a:pPr marL="0" indent="0" algn="l">
                        <a:buFontTx/>
                        <a:buNone/>
                      </a:pPr>
                      <a:r>
                        <a:rPr lang="en-US" sz="1000" b="1" noProof="0"/>
                        <a:t>Qualtrics X4</a:t>
                      </a:r>
                    </a:p>
                  </a:txBody>
                  <a:tcPr>
                    <a:solidFill>
                      <a:srgbClr val="FFFFFF"/>
                    </a:solidFill>
                  </a:tcPr>
                </a:tc>
                <a:tc>
                  <a:txBody>
                    <a:bodyPr vert="horz" wrap="square"/>
                    <a:lstStyle/>
                    <a:p>
                      <a:pPr marL="0" indent="0">
                        <a:buFontTx/>
                        <a:buNone/>
                      </a:pPr>
                      <a:r>
                        <a:rPr lang="en-US" sz="1000" noProof="0"/>
                        <a:t>Conference</a:t>
                      </a:r>
                    </a:p>
                  </a:txBody>
                  <a:tcPr>
                    <a:solidFill>
                      <a:srgbClr val="FFFFFF"/>
                    </a:solidFill>
                  </a:tcPr>
                </a:tc>
                <a:tc>
                  <a:txBody>
                    <a:bodyPr vert="horz" wrap="square"/>
                    <a:lstStyle/>
                    <a:p>
                      <a:pPr marL="0" indent="0">
                        <a:buNone/>
                      </a:pPr>
                      <a:r>
                        <a:rPr lang="en-US" sz="1000" noProof="0"/>
                        <a:t>Mar 17-19</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FS, Auto, Airlines, Retail</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Seattle</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Plus Hosting Loyalty Forum in Seattle March 16 and before Medallia Expérience February 10-12</a:t>
                      </a:r>
                    </a:p>
                  </a:txBody>
                  <a:tcPr>
                    <a:solidFill>
                      <a:srgbClr val="FFFFFF"/>
                    </a:solidFill>
                  </a:tcPr>
                </a:tc>
                <a:extLst>
                  <a:ext uri="{0D108BD9-81ED-4DB2-BD59-A6C34878D82A}">
                    <a16:rowId xmlns:a16="http://schemas.microsoft.com/office/drawing/2014/main" val="938317288"/>
                  </a:ext>
                </a:extLst>
              </a:tr>
              <a:tr h="519527">
                <a:tc>
                  <a:txBody>
                    <a:bodyPr vert="horz" wrap="square"/>
                    <a:lstStyle/>
                    <a:p>
                      <a:pPr marL="0" indent="0" algn="l" rtl="0">
                        <a:buFontTx/>
                        <a:buNone/>
                      </a:pPr>
                      <a:r>
                        <a:rPr lang="en-US" sz="1000" noProof="0"/>
                        <a:t>ENR</a:t>
                      </a:r>
                    </a:p>
                  </a:txBody>
                  <a:tcPr>
                    <a:solidFill>
                      <a:srgbClr val="FFFFFF"/>
                    </a:solidFill>
                  </a:tcPr>
                </a:tc>
                <a:tc>
                  <a:txBody>
                    <a:bodyPr vert="horz" wrap="square"/>
                    <a:lstStyle/>
                    <a:p>
                      <a:pPr marL="0" indent="0" algn="l">
                        <a:buFontTx/>
                        <a:buNone/>
                      </a:pPr>
                      <a:r>
                        <a:rPr lang="en-US" sz="1000" b="1" noProof="0"/>
                        <a:t>CERAWeek: Oil &amp; Gas conference</a:t>
                      </a:r>
                    </a:p>
                  </a:txBody>
                  <a:tcPr>
                    <a:solidFill>
                      <a:srgbClr val="FFFFFF"/>
                    </a:solidFill>
                  </a:tcPr>
                </a:tc>
                <a:tc>
                  <a:txBody>
                    <a:bodyPr vert="horz" wrap="square"/>
                    <a:lstStyle/>
                    <a:p>
                      <a:pPr marL="0" indent="0">
                        <a:buFontTx/>
                        <a:buNone/>
                      </a:pPr>
                      <a:r>
                        <a:rPr lang="en-US" sz="1000" noProof="0"/>
                        <a:t>Targeted event</a:t>
                      </a:r>
                    </a:p>
                  </a:txBody>
                  <a:tcPr>
                    <a:solidFill>
                      <a:srgbClr val="FFFFFF"/>
                    </a:solidFill>
                  </a:tcPr>
                </a:tc>
                <a:tc>
                  <a:txBody>
                    <a:bodyPr vert="horz" wrap="square"/>
                    <a:lstStyle/>
                    <a:p>
                      <a:pPr marL="0" indent="0">
                        <a:buNone/>
                      </a:pPr>
                      <a:r>
                        <a:rPr lang="en-US" sz="1000" noProof="0"/>
                        <a:t>Mar 23-27</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PI, Vector/AI, Sustainability, potentially PEG</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Houston, TX but global rep of attendees</a:t>
                      </a:r>
                    </a:p>
                  </a:txBody>
                  <a:tcPr>
                    <a:solidFill>
                      <a:srgbClr val="FFFFFF"/>
                    </a:solidFill>
                  </a:tcPr>
                </a:tc>
                <a:tc>
                  <a:txBody>
                    <a:bodyPr vert="horz" wrap="square"/>
                    <a:lstStyle/>
                    <a:p>
                      <a:pPr marL="0" indent="0" algn="l" rtl="0">
                        <a:buFontTx/>
                        <a:buNone/>
                      </a:pPr>
                      <a:r>
                        <a:rPr lang="en-US" sz="1000" noProof="0"/>
                        <a:t>Also relevant to utilities, renewables, and chemicals</a:t>
                      </a:r>
                    </a:p>
                  </a:txBody>
                  <a:tcPr>
                    <a:solidFill>
                      <a:srgbClr val="FFFFFF"/>
                    </a:solidFill>
                  </a:tcPr>
                </a:tc>
                <a:extLst>
                  <a:ext uri="{0D108BD9-81ED-4DB2-BD59-A6C34878D82A}">
                    <a16:rowId xmlns:a16="http://schemas.microsoft.com/office/drawing/2014/main" val="1219650930"/>
                  </a:ext>
                </a:extLst>
              </a:tr>
              <a:tr h="519527">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Arial"/>
                          <a:ea typeface="+mn-ea"/>
                          <a:cs typeface="+mn-cs"/>
                        </a:rPr>
                        <a:t>PI</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Arial"/>
                          <a:ea typeface="+mn-ea"/>
                          <a:cs typeface="+mn-cs"/>
                        </a:rPr>
                        <a:t>America’s Procurement Congress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Conference</a:t>
                      </a:r>
                    </a:p>
                  </a:txBody>
                  <a:tcPr>
                    <a:solidFill>
                      <a:srgbClr val="FFFFFF"/>
                    </a:solidFill>
                  </a:tcPr>
                </a:tc>
                <a:tc>
                  <a:txBody>
                    <a:bodyPr vert="horz" wrap="square"/>
                    <a:lstStyle/>
                    <a:p>
                      <a:pPr marL="0" indent="0" rtl="0">
                        <a:buNone/>
                      </a:pPr>
                      <a:r>
                        <a:rPr lang="en-US" sz="1000" noProof="0"/>
                        <a:t>Mar 24-25</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AMER only, all industries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New Orleans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Proxima is sponsoring with mainstage speaking engagement; Bain Partners also supporting/in attendence </a:t>
                      </a:r>
                    </a:p>
                  </a:txBody>
                  <a:tcPr>
                    <a:solidFill>
                      <a:srgbClr val="FFFFFF"/>
                    </a:solidFill>
                  </a:tcPr>
                </a:tc>
                <a:extLst>
                  <a:ext uri="{0D108BD9-81ED-4DB2-BD59-A6C34878D82A}">
                    <a16:rowId xmlns:a16="http://schemas.microsoft.com/office/drawing/2014/main" val="2349241672"/>
                  </a:ext>
                </a:extLst>
              </a:tr>
              <a:tr h="666060">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Arial"/>
                          <a:ea typeface="+mn-ea"/>
                          <a:cs typeface="+mn-cs"/>
                        </a:rPr>
                        <a:t>FS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Arial"/>
                          <a:ea typeface="+mn-ea"/>
                          <a:cs typeface="+mn-cs"/>
                        </a:rPr>
                        <a:t>Global Banking CFOs SUMMIT</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In person Event</a:t>
                      </a:r>
                    </a:p>
                  </a:txBody>
                  <a:tcPr>
                    <a:solidFill>
                      <a:srgbClr val="FFFFFF"/>
                    </a:solidFill>
                  </a:tcPr>
                </a:tc>
                <a:tc>
                  <a:txBody>
                    <a:bodyPr vert="horz" wrap="square"/>
                    <a:lstStyle/>
                    <a:p>
                      <a:pPr marL="0" indent="0" rtl="0">
                        <a:buNone/>
                      </a:pPr>
                      <a:r>
                        <a:rPr lang="en-US" sz="1000" noProof="0"/>
                        <a:t>Mar 26-27</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PI - Strategy</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1st edition in London</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30sh Global Banking and Payments P clients for a content driven 1.5 day event. Insights will be marketed post-event ( publication, social campaign, mailing) </a:t>
                      </a:r>
                    </a:p>
                  </a:txBody>
                  <a:tcPr>
                    <a:solidFill>
                      <a:srgbClr val="FFFFFF"/>
                    </a:solidFill>
                  </a:tcPr>
                </a:tc>
                <a:extLst>
                  <a:ext uri="{0D108BD9-81ED-4DB2-BD59-A6C34878D82A}">
                    <a16:rowId xmlns:a16="http://schemas.microsoft.com/office/drawing/2014/main" val="2710032363"/>
                  </a:ext>
                </a:extLst>
              </a:tr>
              <a:tr h="519527">
                <a:tc>
                  <a:txBody>
                    <a:bodyPr vert="horz" wrap="square"/>
                    <a:lstStyle/>
                    <a:p>
                      <a:pPr marL="0" indent="0" algn="l" rtl="0">
                        <a:buFontTx/>
                        <a:buNone/>
                      </a:pPr>
                      <a:r>
                        <a:rPr lang="en-US" sz="1000" b="1" noProof="0"/>
                        <a:t>AMS</a:t>
                      </a:r>
                    </a:p>
                  </a:txBody>
                  <a:tcPr>
                    <a:solidFill>
                      <a:srgbClr val="FFFFFF"/>
                    </a:solidFill>
                  </a:tcPr>
                </a:tc>
                <a:tc>
                  <a:txBody>
                    <a:bodyPr vert="horz" wrap="square"/>
                    <a:lstStyle/>
                    <a:p>
                      <a:pPr marL="0" indent="0" algn="l" rtl="0">
                        <a:buFontTx/>
                        <a:buNone/>
                      </a:pPr>
                      <a:r>
                        <a:rPr lang="en-US" sz="1000" b="1" noProof="0"/>
                        <a:t>Hannover Messe </a:t>
                      </a:r>
                    </a:p>
                  </a:txBody>
                  <a:tcPr>
                    <a:solidFill>
                      <a:srgbClr val="FAEEC3"/>
                    </a:solidFill>
                  </a:tcPr>
                </a:tc>
                <a:tc>
                  <a:txBody>
                    <a:bodyPr vert="horz" wrap="square"/>
                    <a:lstStyle/>
                    <a:p>
                      <a:pPr marL="0" indent="0" rtl="0">
                        <a:buFontTx/>
                        <a:buNone/>
                      </a:pPr>
                      <a:r>
                        <a:rPr lang="en-US" sz="1000" noProof="0"/>
                        <a:t>Trade show</a:t>
                      </a:r>
                    </a:p>
                  </a:txBody>
                  <a:tcPr>
                    <a:solidFill>
                      <a:srgbClr val="FFFFFF"/>
                    </a:solidFill>
                  </a:tcPr>
                </a:tc>
                <a:tc>
                  <a:txBody>
                    <a:bodyPr vert="horz" wrap="square"/>
                    <a:lstStyle/>
                    <a:p>
                      <a:pPr marL="0" indent="0" rtl="0">
                        <a:buNone/>
                      </a:pPr>
                      <a:r>
                        <a:rPr lang="en-US" sz="1000" noProof="0"/>
                        <a:t>19-24 Apr</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PI</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EMEA</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TBC: Co-exhibitor with AWS, Center stage sponsor, C-suit networking events sponsorships, partner delegation</a:t>
                      </a:r>
                    </a:p>
                  </a:txBody>
                  <a:tcPr>
                    <a:solidFill>
                      <a:srgbClr val="FAEEC3"/>
                    </a:solidFill>
                  </a:tcPr>
                </a:tc>
                <a:extLst>
                  <a:ext uri="{0D108BD9-81ED-4DB2-BD59-A6C34878D82A}">
                    <a16:rowId xmlns:a16="http://schemas.microsoft.com/office/drawing/2014/main" val="1330403353"/>
                  </a:ext>
                </a:extLst>
              </a:tr>
              <a:tr h="519527">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Strategy &amp; Transformation</a:t>
                      </a:r>
                    </a:p>
                  </a:txBody>
                  <a:tcPr>
                    <a:solidFill>
                      <a:srgbClr val="FFFFFF"/>
                    </a:solidFill>
                  </a:tcPr>
                </a:tc>
                <a:tc>
                  <a:txBody>
                    <a:bodyPr vert="horz" wrap="square"/>
                    <a:lstStyle/>
                    <a:p>
                      <a:pPr marL="0" indent="0" algn="l">
                        <a:buFontTx/>
                        <a:buNone/>
                      </a:pPr>
                      <a:r>
                        <a:rPr lang="en-US" sz="1000" b="1" noProof="0"/>
                        <a:t>Transformation Forum EMEA (Spring)</a:t>
                      </a:r>
                    </a:p>
                  </a:txBody>
                  <a:tcPr>
                    <a:solidFill>
                      <a:srgbClr val="FFFFFF"/>
                    </a:solidFill>
                  </a:tcPr>
                </a:tc>
                <a:tc>
                  <a:txBody>
                    <a:bodyPr vert="horz" wrap="square"/>
                    <a:lstStyle/>
                    <a:p>
                      <a:pPr marL="0" indent="0">
                        <a:buFontTx/>
                        <a:buNone/>
                      </a:pPr>
                      <a:r>
                        <a:rPr lang="en-US" sz="1000" noProof="0"/>
                        <a:t>Event</a:t>
                      </a:r>
                    </a:p>
                  </a:txBody>
                  <a:tcPr>
                    <a:solidFill>
                      <a:srgbClr val="FFFFFF"/>
                    </a:solidFill>
                  </a:tcPr>
                </a:tc>
                <a:tc>
                  <a:txBody>
                    <a:bodyPr vert="horz" wrap="square"/>
                    <a:lstStyle/>
                    <a:p>
                      <a:pPr marL="0" indent="0">
                        <a:buNone/>
                      </a:pPr>
                      <a:r>
                        <a:rPr lang="en-US" sz="1000" noProof="0"/>
                        <a:t>Early Apr</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PI </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Copenhagen</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Amer event will also be in early April, location TBC</a:t>
                      </a:r>
                    </a:p>
                  </a:txBody>
                  <a:tcPr>
                    <a:solidFill>
                      <a:srgbClr val="FFFFFF"/>
                    </a:solidFill>
                  </a:tcPr>
                </a:tc>
                <a:extLst>
                  <a:ext uri="{0D108BD9-81ED-4DB2-BD59-A6C34878D82A}">
                    <a16:rowId xmlns:a16="http://schemas.microsoft.com/office/drawing/2014/main" val="958110138"/>
                  </a:ext>
                </a:extLst>
              </a:tr>
              <a:tr h="519527">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Arial"/>
                          <a:ea typeface="+mn-ea"/>
                          <a:cs typeface="+mn-cs"/>
                        </a:rPr>
                        <a:t>FS</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kumimoji="0" lang="en-US" sz="1000" b="1" i="0" u="none" strike="noStrike" kern="1200" cap="none" spc="0" normalizeH="0" baseline="0" noProof="0">
                          <a:ln>
                            <a:noFill/>
                          </a:ln>
                          <a:solidFill>
                            <a:srgbClr val="000000"/>
                          </a:solidFill>
                          <a:effectLst/>
                          <a:uLnTx/>
                          <a:uFillTx/>
                          <a:latin typeface="Arial"/>
                          <a:ea typeface="+mn-ea"/>
                          <a:cs typeface="+mn-cs"/>
                        </a:rPr>
                        <a:t>Global AI in FS SUMMIT</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In person Event</a:t>
                      </a:r>
                    </a:p>
                  </a:txBody>
                  <a:tcPr>
                    <a:solidFill>
                      <a:srgbClr val="FFFFFF"/>
                    </a:solidFill>
                  </a:tcPr>
                </a:tc>
                <a:tc>
                  <a:txBody>
                    <a:bodyPr vert="horz" wrap="square"/>
                    <a:lstStyle/>
                    <a:p>
                      <a:pPr marL="0" indent="0" rtl="0">
                        <a:buNone/>
                      </a:pPr>
                      <a:r>
                        <a:rPr lang="en-US" sz="1000" noProof="0"/>
                        <a:t>Apr 22-24</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Vector</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3rd edition in San Francisco</a:t>
                      </a:r>
                    </a:p>
                  </a:txBody>
                  <a:tcPr>
                    <a:solidFill>
                      <a:srgbClr val="FFFFFF"/>
                    </a:solidFill>
                  </a:tcPr>
                </a:tc>
                <a:tc>
                  <a:txBody>
                    <a:bodyPr vert="horz" wrap="square"/>
                    <a:lstStyle/>
                    <a:p>
                      <a:pPr marL="0" marR="0" lvl="0" indent="0" algn="l" defTabSz="711200" rtl="0" eaLnBrk="1" fontAlgn="auto" latinLnBrk="0" hangingPunct="1">
                        <a:lnSpc>
                          <a:spcPct val="100000"/>
                        </a:lnSpc>
                        <a:spcBef>
                          <a:spcPts val="1200"/>
                        </a:spcBef>
                        <a:spcAft>
                          <a:spcPct val="0"/>
                        </a:spcAft>
                        <a:buClrTx/>
                        <a:buSzTx/>
                        <a:buFontTx/>
                        <a:buNone/>
                        <a:defRPr/>
                      </a:pPr>
                      <a:r>
                        <a:rPr lang="en-US" sz="1000" noProof="0"/>
                        <a:t>40sh Global FS P clients for  a content driven 2.5 days event. Key insights will be marketed post-event ( publication, social campaign, mailing) </a:t>
                      </a:r>
                    </a:p>
                  </a:txBody>
                  <a:tcPr>
                    <a:solidFill>
                      <a:srgbClr val="FFFFFF"/>
                    </a:solidFill>
                  </a:tcPr>
                </a:tc>
                <a:extLst>
                  <a:ext uri="{0D108BD9-81ED-4DB2-BD59-A6C34878D82A}">
                    <a16:rowId xmlns:a16="http://schemas.microsoft.com/office/drawing/2014/main" val="261035368"/>
                  </a:ext>
                </a:extLst>
              </a:tr>
            </a:tbl>
          </a:graphicData>
        </a:graphic>
      </p:graphicFrame>
      <p:sp>
        <p:nvSpPr>
          <p:cNvPr id="18" name="Title 17">
            <a:extLst>
              <a:ext uri="{FF2B5EF4-FFF2-40B4-BE49-F238E27FC236}">
                <a16:creationId xmlns:a16="http://schemas.microsoft.com/office/drawing/2014/main" id="{A050691A-CDBE-1B94-D253-60ED1FF8FED0}"/>
              </a:ext>
            </a:extLst>
          </p:cNvPr>
          <p:cNvSpPr>
            <a:spLocks noGrp="1"/>
          </p:cNvSpPr>
          <p:nvPr>
            <p:ph type="title"/>
          </p:nvPr>
        </p:nvSpPr>
        <p:spPr/>
        <p:txBody>
          <a:bodyPr vert="horz"/>
          <a:lstStyle/>
          <a:p>
            <a:r>
              <a:rPr lang="en-US" noProof="0"/>
              <a:t>Q1 2026 major practice campaigns (4 of 4)</a:t>
            </a:r>
          </a:p>
        </p:txBody>
      </p:sp>
    </p:spTree>
    <p:custDataLst>
      <p:tags r:id="rId6"/>
    </p:custDataLst>
    <p:extLst>
      <p:ext uri="{BB962C8B-B14F-4D97-AF65-F5344CB8AC3E}">
        <p14:creationId xmlns:p14="http://schemas.microsoft.com/office/powerpoint/2010/main" val="866295902"/>
      </p:ext>
    </p:extLst>
  </p:cSld>
  <p:clrMapOvr>
    <a:masterClrMapping/>
  </p:clrMapOvr>
  <p:transition/>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BTFPLAYOUTCOLUMNS" val="1"/>
  <p:tag name="BTFPLAYOUTENABLED" val="1"/>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BTFPLAYOUTENABLED" val="1"/>
</p:tagLst>
</file>

<file path=ppt/tags/tag5.xml><?xml version="1.0" encoding="utf-8"?>
<p:tagLst xmlns:p="http://schemas.openxmlformats.org/presentationml/2006/main">
  <p:tag name="BTFPLAYOUTCOLUMNS" val="1"/>
  <p:tag name="BTFPLAYOUTENABLED" val="1"/>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BTFPLAYOUTENABLED" val="1"/>
</p:tagLst>
</file>

<file path=ppt/tags/tag8.xml><?xml version="1.0" encoding="utf-8"?>
<p:tagLst xmlns:p="http://schemas.openxmlformats.org/presentationml/2006/main">
  <p:tag name="BTFPLAYOUTCOLUMNS" val="1"/>
  <p:tag name="BTFPLAYOUTENABLED" val="1"/>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BTFPLAYOUTENABLED" val="1"/>
</p:tagLst>
</file>

<file path=ppt/tags/tag11.xml><?xml version="1.0" encoding="utf-8"?>
<p:tagLst xmlns:p="http://schemas.openxmlformats.org/presentationml/2006/main">
  <p:tag name="BTFPLAYOUTCOLUMNS" val="1"/>
  <p:tag name="BTFPLAYOUTENABLED" val="1"/>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BTFPLAYOUTENABLED" val="1"/>
</p:tagLst>
</file>

<file path=ppt/tags/tag14.xml><?xml version="1.0" encoding="utf-8"?>
<p:tagLst xmlns:p="http://schemas.openxmlformats.org/presentationml/2006/main">
  <p:tag name="BTFPLAYOUTCOLUMNS" val="1"/>
  <p:tag name="BTFPLAYOUTENABLED" val="1"/>
</p:tagLst>
</file>

<file path=ppt/tags/tag15.xml><?xml version="1.0" encoding="utf-8"?>
<p:tagLst xmlns:p="http://schemas.openxmlformats.org/presentationml/2006/main">
  <p:tag name="AS_NET" val="4.0.30319.42000"/>
  <p:tag name="AS_OS" val="Microsoft Windows NT 10.0.22631.0"/>
  <p:tag name="AS_RELEASE_DATE" val="2023.02.14"/>
  <p:tag name="AS_TITLE" val="Aspose.Slides for .NET 4.0 Client Profile"/>
  <p:tag name="AS_VERSION" val="23.2"/>
  <p:tag name="BTFPCOLUMNGUIDE" val="Visible"/>
  <p:tag name="MEKKOFORMATS" val="&lt;MekkoFormats&gt;&lt;NumberFormat DecimalSeparator=&quot;,&quot; ThousandSeparator=&quot;.&quot; NegativeNumberFormat=&quot;1&quot; /&gt;&lt;DateFormat CultureID=&quot;1033&quot; FormatString=&quot;M/d/yyyy&quot; /&gt;&lt;Font&gt;&lt;Output_Font_Name Default=&quot;Arial&quot; UsePPTTheme=&quot;True&quot; /&gt;&lt;/Font&gt;&lt;/MekkoFormats&gt;"/>
  <p:tag name="OFFICE" val="New York"/>
  <p:tag name="THINKCELLUNDODONOTDELETE" val="0"/>
</p:tagLst>
</file>

<file path=ppt/theme/theme1.xml><?xml version="1.0" encoding="utf-8"?>
<a:theme xmlns:r="http://schemas.openxmlformats.org/officeDocument/2006/relationships" xmlns:a="http://schemas.openxmlformats.org/drawingml/2006/main" name="Bain Core">
  <a:themeElements>
    <a:clrScheme name="Bain">
      <a:dk1>
        <a:srgbClr val="000000"/>
      </a:dk1>
      <a:lt1>
        <a:srgbClr val="FFFFFF"/>
      </a:lt1>
      <a:dk2>
        <a:srgbClr val="D6D6D6"/>
      </a:dk2>
      <a:lt2>
        <a:srgbClr val="5C5C5C"/>
      </a:lt2>
      <a:accent1>
        <a:srgbClr val="B4B4B4"/>
      </a:accent1>
      <a:accent2>
        <a:srgbClr val="D6D6D6"/>
      </a:accent2>
      <a:accent3>
        <a:srgbClr val="CC0000"/>
      </a:accent3>
      <a:accent4>
        <a:srgbClr val="46647B"/>
      </a:accent4>
      <a:accent5>
        <a:srgbClr val="507867"/>
      </a:accent5>
      <a:accent6>
        <a:srgbClr val="973B74"/>
      </a:accent6>
      <a:hlink>
        <a:srgbClr val="46647B"/>
      </a:hlink>
      <a:folHlink>
        <a:srgbClr val="7891AA"/>
      </a:folHlink>
    </a:clrScheme>
    <a:fontScheme name="Arial">
      <a:majorFont>
        <a:latin typeface="Arial"/>
        <a:ea typeface="Malgun Gothic"/>
        <a:cs typeface="Arial"/>
      </a:majorFont>
      <a:minorFont>
        <a:latin typeface="Arial"/>
        <a:ea typeface="Malgun Gothic"/>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36000" tIns="36000" rIns="36000" bIns="36000" rtlCol="0">
        <a:spAutoFit/>
      </a:bodyPr>
      <a:lstStyle>
        <a:defPPr marL="0" indent="0">
          <a:buNone/>
          <a:defRPr sz="1600" dirty="0" err="1" smtClean="0"/>
        </a:defPPr>
      </a:lstStyle>
    </a:txDef>
  </a:objectDefaults>
  <a:extLst>
    <a:ext uri="{05A4C25C-085E-4340-85A3-A5531E510DB2}">
      <thm15:themeFamily xmlns:thm15="http://schemas.microsoft.com/office/thememl/2012/main" name="Bain Core On Screen Show (16_9).potx" id="{56CF97D2-A744-43CA-AE15-0214FF29DAC4}" vid="{A64E784E-EE2A-4031-BBD4-3B52B2D870FE}"/>
    </a:ext>
  </a:extLst>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webextensions/taskpanes.xml><?xml version="1.0" encoding="utf-8"?>
<wetp:taskpanes xmlns:wetp="http://schemas.microsoft.com/office/webextensions/taskpanes/2010/11">
  <wetp:taskpane dockstate="right" visibility="0" width="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6AE492F-1018-47CB-A2F9-DB3028D39814}">
  <we:reference id="70ed8778-2a1c-4697-8cf0-5cf67c93b7b6" version="2.2.2.14" store="EXCatalog" storeType="EXCatalog"/>
  <we:alternateReferences/>
  <we:properties/>
  <we:bindings/>
  <we:snapshot xmlns:r="http://schemas.openxmlformats.org/officeDocument/2006/relationships"/>
</we:webextension>
</file>

<file path=customXml/_rels/item1.xml.rels>&#65279;<?xml version="1.0" encoding="utf-8" standalone="yes"?><Relationships xmlns="http://schemas.openxmlformats.org/package/2006/relationships"><Relationship Id="rId1" Type="http://schemas.openxmlformats.org/officeDocument/2006/relationships/customXmlProps" Target="itemProps1.xml" /></Relationships>
</file>

<file path=customXml/_rels/item2.xml.rels>&#65279;<?xml version="1.0" encoding="utf-8" standalone="yes"?><Relationships xmlns="http://schemas.openxmlformats.org/package/2006/relationships"><Relationship Id="rId1" Type="http://schemas.openxmlformats.org/officeDocument/2006/relationships/customXmlProps" Target="itemProps2.xml" /></Relationships>
</file>

<file path=customXml/_rels/item3.xml.rels>&#65279;<?xml version="1.0" encoding="utf-8" standalone="yes"?><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7347A0275C76488706D8FCE90187C4" ma:contentTypeVersion="23" ma:contentTypeDescription="Create a new document." ma:contentTypeScope="" ma:versionID="759e4e2095e14b3106150e2176e15d80">
  <xsd:schema xmlns:xsd="http://www.w3.org/2001/XMLSchema" xmlns:xs="http://www.w3.org/2001/XMLSchema" xmlns:p="http://schemas.microsoft.com/office/2006/metadata/properties" xmlns:ns2="4f524bf5-71dd-44d0-8048-beb7f0195cd8" xmlns:ns3="0e427f73-0d6a-4740-aee4-eea3ddf9cfe2" xmlns:ns4="93c25666-76e7-46f2-9dfa-b067587f64ca" targetNamespace="http://schemas.microsoft.com/office/2006/metadata/properties" ma:root="true" ma:fieldsID="1c35862355d2a481df02dc47579b3c22" ns2:_="" ns3:_="" ns4:_="">
    <xsd:import namespace="4f524bf5-71dd-44d0-8048-beb7f0195cd8"/>
    <xsd:import namespace="0e427f73-0d6a-4740-aee4-eea3ddf9cfe2"/>
    <xsd:import namespace="93c25666-76e7-46f2-9dfa-b067587f64ca"/>
    <xsd:element name="properties">
      <xsd:complexType>
        <xsd:sequence>
          <xsd:element name="documentManagement">
            <xsd:complexType>
              <xsd:all>
                <xsd:element ref="ns2:Notes_x0028_2_x0029_" minOccurs="0"/>
                <xsd:element ref="ns2:Sortorder" minOccurs="0"/>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4:SharedWithUsers" minOccurs="0"/>
                <xsd:element ref="ns4:SharedWithDetails"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524bf5-71dd-44d0-8048-beb7f0195cd8" elementFormDefault="qualified">
    <xsd:import namespace="http://schemas.microsoft.com/office/2006/documentManagement/types"/>
    <xsd:import namespace="http://schemas.microsoft.com/office/infopath/2007/PartnerControls"/>
    <xsd:element name="Notes_x0028_2_x0029_" ma:index="1" nillable="true" ma:displayName="Notes" ma:format="Dropdown" ma:internalName="Notes_x0028_2_x0029_">
      <xsd:simpleType>
        <xsd:restriction base="dms:Note">
          <xsd:maxLength value="255"/>
        </xsd:restriction>
      </xsd:simpleType>
    </xsd:element>
    <xsd:element name="Sortorder" ma:index="3" nillable="true" ma:displayName="Sort order" ma:decimals="0" ma:format="Dropdown" ma:hidden="true" ma:internalName="Sortorder" ma:readOnly="false" ma:percentage="FALSE">
      <xsd:simpleType>
        <xsd:restriction base="dms:Number"/>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b166abb-7d38-406f-9233-2f33b10aef24"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hidden="true" ma:internalName="MediaServiceOCR" ma:readOnly="true">
      <xsd:simpleType>
        <xsd:restriction base="dms:Note"/>
      </xsd:simpleType>
    </xsd:element>
    <xsd:element name="MediaServiceLocation" ma:index="20" nillable="true" ma:displayName="Location" ma:hidden="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427f73-0d6a-4740-aee4-eea3ddf9cfe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eccfbd4-49b2-4ad5-9ee1-fa640e47047b}" ma:internalName="TaxCatchAll" ma:readOnly="false" ma:showField="CatchAllData" ma:web="93c25666-76e7-46f2-9dfa-b067587f64c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3c25666-76e7-46f2-9dfa-b067587f64ca" elementFormDefault="qualified">
    <xsd:import namespace="http://schemas.microsoft.com/office/2006/documentManagement/types"/>
    <xsd:import namespace="http://schemas.microsoft.com/office/infopath/2007/PartnerControls"/>
    <xsd:element name="SharedWithUsers" ma:index="1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f524bf5-71dd-44d0-8048-beb7f0195cd8">
      <Terms xmlns="http://schemas.microsoft.com/office/infopath/2007/PartnerControls"/>
    </lcf76f155ced4ddcb4097134ff3c332f>
    <TaxCatchAll xmlns="0e427f73-0d6a-4740-aee4-eea3ddf9cfe2" xsi:nil="true"/>
    <Sortorder xmlns="4f524bf5-71dd-44d0-8048-beb7f0195cd8" xsi:nil="true"/>
    <Notes_x0028_2_x0029_ xmlns="4f524bf5-71dd-44d0-8048-beb7f0195cd8" xsi:nil="true"/>
  </documentManagement>
</p:properties>
</file>

<file path=customXml/itemProps1.xml><?xml version="1.0" encoding="utf-8"?>
<ds:datastoreItem xmlns:ds="http://schemas.openxmlformats.org/officeDocument/2006/customXml" ds:itemID="{66C93297-A723-438C-BD9A-160BDB7C5A4C}">
  <ds:schemaRefs>
    <ds:schemaRef ds:uri="0e427f73-0d6a-4740-aee4-eea3ddf9cfe2"/>
    <ds:schemaRef ds:uri="4f524bf5-71dd-44d0-8048-beb7f0195cd8"/>
    <ds:schemaRef ds:uri="93c25666-76e7-46f2-9dfa-b067587f64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D835C2C-3CD2-40BE-BE8B-84BB9926EAC4}">
  <ds:schemaRefs>
    <ds:schemaRef ds:uri="http://schemas.microsoft.com/sharepoint/v3/contenttype/forms"/>
  </ds:schemaRefs>
</ds:datastoreItem>
</file>

<file path=customXml/itemProps3.xml><?xml version="1.0" encoding="utf-8"?>
<ds:datastoreItem xmlns:ds="http://schemas.openxmlformats.org/officeDocument/2006/customXml" ds:itemID="{8352852A-4ABC-41AA-AF37-7A14D5A5E6B6}">
  <ds:schemaRefs>
    <ds:schemaRef ds:uri="0e427f73-0d6a-4740-aee4-eea3ddf9cfe2"/>
    <ds:schemaRef ds:uri="4f524bf5-71dd-44d0-8048-beb7f0195cd8"/>
    <ds:schemaRef ds:uri="93c25666-76e7-46f2-9dfa-b067587f64c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vt="http://schemas.openxmlformats.org/officeDocument/2006/docPropsVTypes" xmlns="http://schemas.openxmlformats.org/officeDocument/2006/extended-properties">
  <Template>blank</Template>
  <Company/>
  <PresentationFormat>Widescreen</PresentationFormat>
  <Paragraphs>0</Paragraphs>
  <Slides>0</Slides>
  <Notes>0</Notes>
  <TotalTime>0</TotalTime>
  <HiddenSlides>0</HiddenSlides>
  <MMClips>0</MMClips>
  <ScaleCrop>0</ScaleCrop>
  <LinksUpToDate>0</LinksUpToDate>
  <SharedDoc>0</SharedDoc>
  <HyperlinksChanged>0</HyperlinksChanged>
  <Application>Aspose.Slides for .NET</Application>
  <AppVersion>23.0200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1601-01-01T00:00:00.000</cp:lastPrinted>
  <dcterms:created xsi:type="dcterms:W3CDTF">1601-01-01T00:00:00Z</dcterms:created>
  <dcterms:modified xsi:type="dcterms:W3CDTF">1601-01-01T00:00:00Z</dcterms:modified>
</cp:coreProperties>
</file>

<file path=docProps/custom.xml><?xml version="1.0" encoding="utf-8"?>
<Properties xmlns:vt="http://schemas.openxmlformats.org/officeDocument/2006/docPropsVTypes" xmlns="http://schemas.openxmlformats.org/officeDocument/2006/custom-properties"/>
</file>